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B26645B3-FF9D-366C-556C-87AEBB9A7FBB}">
          <p14:sldIdLst>
            <p14:sldId id="256"/>
          </p14:sldIdLst>
        </p14:section>
        <p14:section name="개요" id="{356EC892-293B-2CEE-59CC-0879FA2D0C26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팬 서비스" id="{5557D3E4-688D-E789-501D-CF0C87FD6834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아티스트 · 소속사" id="{DE83230A-0B37-D4F8-3EB8-18637D4D7163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관리자" id="{E1804321-5CF7-1D44-391A-7F970F7DB0D3}">
          <p14:sldIdLst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</p14:sldIdLst>
        </p14:section>
        <p14:section name="기술 설명" id="{780EBB93-E8A5-5BE5-8031-E64DA7C5037A}">
          <p14:sldIdLst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  <p14:section name="최근 수정 · 테스트 · 개선 과제" id="{6D158485-E35D-AEC1-7DBF-BFB2907E8102}">
          <p14:sldIdLst>
            <p14:sldId id="311"/>
            <p14:sldId id="312"/>
            <p14:sldId id="313"/>
            <p14:sldId id="314"/>
            <p14:sldId id="31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7816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WePlaNet은 아티스트와 팬을 잇는 팬 커뮤니티 플랫폼입니다. 오늘은 팬, 아티스트·소속사, 관리자 세 가지 시점으로 실제 화면을 시연하고, 이어서 기술 구조를 설명하겠습니다.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발표는 개요 → 팬 시연 → 아티스트·소속사 → 관리자 → 기술 설명 → 테스트 결과 순서로 진행합니다.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Weverse 같은 팬 플랫폼을 Spring Boot 모놀리스 하나로 구현했습니다. 숫자는 현재 main-distribution 브랜치 기준으로 직접 세었습니다.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build.gradle 기준입니다. 별도 프론트 프레임워크 없이 Thymeleaf 서버 렌더링 + 바닐라 JS로 구성했고, 실시간 기능은 STOMP와 WebRTC를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브라우저는 HTTP 요청과 STOMP WebSocket 두 통로로 서버와 통신합니다. 라이브 영상만은 서버를 거치지 않고 브라우저끼리 P2P로 오갑니다. 외부 연동은 결제, AI, 메일, 소셜 로그인입니다.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LoginSuccessHandler가 같은 /login 처리기에서 실제 역할과 로그인 화면(adminLogin/portalLogin)을 대조해 화면을 나눕니다. 포털은 현재 소속사 전용이고, 아티스트 멤버는 커뮤니티의 아티스트 화면으로 들어갑니다.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docs/weplanet_schema_full_reset_v2.sql 기준입니다. 10월 3일 간소화로 60개에서 56개가 됐습니다. ddl-auto=validate라 DB 스키마가 먼저 있고 엔티티가 맞춰야 서버가 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로그인 전, 오른쪽은 demo_fan15로 로그인한 홈입니다. 배너는 관리자 배너 관리에서 아티스트나 굿즈로 연결해 등록합니다.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가입은 소셜과 아이디 두 갈래이고, 아이디 가입은 이메일 인증을 통과해야 합니다. 로그인 실패 잠금은 화이트보드 이후 새로 추가된 보호 장치입니다. 1년 미접속 계정은 매일 03시 스케줄러가 휴면 처리합니다.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비로그인 상태에서 열리는 공개 화면들입니다. SecurityConfig의 PUBLIC_URLS로 관리합니다.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커뮤니티 가입 시 COMMUNITY_JOINED 배지 이벤트가 발행됩니다. 영문 주소(/nova/fan)는 CommunitySlugForwardFilter가 숫자 주소로 내부 전달합니다.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탭은 Highlight, Notice, Fan, Artist, Media, Live 여섯 개입니다. 캘린더의 발자국은 아티스트가 그날 접속했다는 출석 표시입니다.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팔로우는 커뮤니티 안에서 회원끼리 맺는 관계라 user_follows 테이블이 커뮤니티 id를 함께 가집니다.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포스트 작성하기를 누르면 Toast UI 에디터 모달이 열립니다. Hide from Artists를 켜면 아티스트에게 숨겨집니다. 실제로 글을 등록했고 목록 최상단에 바로 나타났습니다.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신고된 글과 댓글은 아티스트 측(포털 신고함)과 관리자 통합 신고 화면 양쪽에서 처리할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요약과 번역 모두 Gemini API를 호출합니다. 번역 대상 언어는 사용자 설정의 기본 언어입니다. 호출 횟수 제한·캐시는 아직 없어 개선 과제로 남겼습니다.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미디어는 board_media / board_media_files에 저장되고 group_id가 커뮤니티 id와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멤버십이 있어야 DM을 보낼 수 있고 멤버십 전용 미디어·굿즈를 볼 수 있습니다. 결제는 굿즈·팬 프로젝트와 같은 가상계좌 공통 구조를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10월 4일 CHAT-07에서 고친 부분입니다. 다국어 셸이 비동기로 그려지면서 DM 폼이 목업 상태로 남던 문제를 shell-ready 이벤트로 해결했습니다. 멤버십이 없는 첫 방문 팬에게는 가입 안내 문구를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팬 메시지는 30% 확률로만 아티스트 화면에 노출됩니다(도배 방지, 결과를 DB에 저장). 아티스트가 메시지를 보내면 AI 가상 팬 5명이 Gemini로 답장을 만들어 차례로 올립니다.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10월 5일에 추가한 기능입니다. 리안 계정이 메시지 3통을 보내자 팬 화면 비행기 버튼에 3이 바로 떴고, 목록에서 방별 숫자를 확인한 뒤 방을 열면 사라졌습니다. DB 테이블을 새로 만들지 않으려고 읽은 시각은 브라우저에 저장합니다.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공개 욕설 데이터셋을 참고해 금칙어를 넣었습니다. 그대로 넣으면 평범한 팬 메시지까지 막혀서, 오탐을 일으키는 단어를 걸러내고 4,855개만 넣었습니다. 테이블 용량은 약 352KB입니다.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등록 자격을 통과하면 이메일 인증과 정산 계좌를 입력합니다. 계좌번호는 AES-GCM으로 암호화하고 HMAC으로 중복을 검사합니다. 관리자 승인 후 매분 스케줄러가 APPROVED → FUNDING → FUNDING_CLOSED로 상태를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굿즈는 소속사 포털에서 등록합니다. 주문 시점에는 재고를 확인만 하고, 입금이 확정될 때 행 잠금을 걸고 차감합니다.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Toss 결제창은 테스트 키라 실제 결제가 되지 않습니다. 은행 선택까지 진행했고, 입금 확정은 Toss 웹훅이나 5분 주기 스케줄러가 처리합니다.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서비스는 BadgeActivityEvent만 발행하고, 리스너가 커밋 뒤에 조건을 세어 지급합니다. 배지는 팬 프로젝트 등록 자격으로도 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관리자가 만든 이벤트(뒤의 관리자 시연에서 생성)에 팬이 해시태그 글을 쓰자 NOVA 참여율이 0% → 11.1%로 올라갔습니다.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생일 일정은 DB에는 기본값으로 저장하고 화면에 낼 때 현재 언어로 바꿔 보여줍니다(휘원 생일 / 휘원の誕生日 / 휘원's Birthday).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messages.properties / _ja / _en 세 파일의 키 세트를 같게 유지합니다. 서비스 예외도 메시지 키로 던지고 GlobalExceptionHandler가 현재 언어로 번역합니다.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헤더의 해 아이콘으로 다크모드를 켭니다. CSS 변수만 바꿔 전 화면에 적용됩니다. 모바일은 390px 폭(아이폰 기준)으로 캡처했습니다.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외부 소속사가 입점 신청을 하면 관리자가 승인하고, 활성화 메일(72시간 유효)로 비밀번호를 정합니다. 소속사가 포털에서 아티스트를 등록하면 그룹 계정 활성화 메일이 가고, 멤버를 추가하면 그룹 로그인 후 멤버 프로필을 고르는 구조입니다.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멤버는 ARTIST_MEMBER 역할로 로그인되고, 리더 구분 없이 모든 멤버가 같은 권한을 가집니다.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커뮤니티 화면이지만 로그인한 사람이 해당 그룹의 멤버인지(CommunityArtistResolver)에 따라 버튼과 권한이 달라집니다.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10월 5일 수정 사항입니다. 화면(shell.js)과 서버(CollectionController) 양쪽에서 막았습니다.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포털 접근은 현재 AGENCY 역할 전용입니다(PortalController.isPortalUser). 승인 기록은 agency_profiles.approved_by / approved_at 에 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포털 화면은 관리하는 아티스트를 왼쪽에서 고른 뒤 그 아티스트 기준으로 동작합니다.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굿즈 이미지 저장은 개선 과제 슬라이드에서 다시 언급합니다.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아티스트 측 신고 처리는 해당 커뮤니티 범위이고, 관리자 통합 신고는 전체 범위입니다.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10월 4일 커밋으로 로그인 흐름에 연결됐습니다. 관리자 화면은 계정 언어와 관계없이 한국어로 고정됩니다.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대시보드에서 각 카드를 눌러 해당 관리 화면으로 바로 이동합니다.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방금 승인한 소속사가 앞의 포털 시연에서 대시보드에 들어간 계정입니다.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팬 프로젝트는 PENDING_APPROVAL 상태에서 관리자가 승인해야 모금이 시작됩니다.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배너와 공지 이미지는 이미지 전용 저장 메서드로 저장합니다.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이벤트명, 기간, 참여 아티스트와 아티스트별 해시태그를 정합니다. 기간을 8일로 넣었더니 3~7일 규칙으로 막혔고, 7일로 고쳐 등록했습니다.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 로그는 화이트보드에서도 잘된 점으로 꼽힌 부분입니다.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주문이 같은 상태 흐름을 씁니다. 입금 확정은 웹훅이 1순위이고, 웹훅이 오지 않아도 5분마다 스케줄러가 Toss에 상태를 물어 보정합니다.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DM은 서버가 메시지를 저장하고 브로커가 구독자에게 뿌립니다. 라이브는 서버가 연결 정보만 중계하고 영상은 브라우저끼리 직접 주고받습니다.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글쓰기, 가입, 결제 같은 핵심 트랜잭션과 배지 지급·해시태그 집계를 분리했습니다. 배지 집계가 실패해도 원래 글쓰기는 롤백되지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Spring Security를 중심으로 로그인 분기, 계정 보호, 민감정보 암호화를 구성했습니다. 오른쪽은 아직 남아 있는 과제입니다.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서버 렌더링 화면은 Thymeleaf 메시지 표현식으로, 클라이언트 JS 화면은 /api/i18n API로 같은 메시지 묶음을 받아 그립니다.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 요청 없이도 바뀌어야 하는 상태는 스케줄러가 처리합니다. 휴면 처리는 한 명씩 짧은 트랜잭션으로 처리해 긴 잠금을 피했습니다.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직전에 반영한 수정 사항입니다. 로고·파비콘 교체, 약관 화면 버튼 정렬, 아티스트 컬렉션 차단, 팬 DM 안 읽은 개수, 금칙어 4,855개입니다.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 서버(9999)와 수정 코드를 띄운 개발 서버(9998)에서 같은 데모 DB로 브라우저 자동화를 돌려 실제 클릭·입력으로 확인했습니다. 결제는 Toss 테스트 모드에서 은행 선택 단계까지만 진행했습니다.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첨부된 화이트보드는 9월 30일 main 3ed8788을 분석한 문서입니다. 현재 시연 브랜치 main-distribution은 그 뒤로 512개 파일이 바뀌었고, 10월 5일 수정 사항까지 반영했습니다.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화이트보드에서 지적된 항목 중 아직 남아 있는 것과, 이번 수정에서 새로 생긴 과제입니다. 우선순위 순서입니다.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받겠습니다. 시연 주소는 ngrok 고정 주소로 열어 두었습니다.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WePlaNet  ·  시연 발표</a:t>
            </a:r>
            <a:endParaRPr lang="en-US" sz="8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2D3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2011680"/>
            <a:ext cx="2743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rgbClr val="F7C8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2880360"/>
            <a:ext cx="10058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0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D3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jpg"/><Relationship Id="rId4" Type="http://schemas.openxmlformats.org/officeDocument/2006/relationships/image" Target="../media/image41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49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jpg"/><Relationship Id="rId4" Type="http://schemas.openxmlformats.org/officeDocument/2006/relationships/image" Target="../media/image53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7" Type="http://schemas.openxmlformats.org/officeDocument/2006/relationships/image" Target="../media/image59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jpg"/><Relationship Id="rId5" Type="http://schemas.openxmlformats.org/officeDocument/2006/relationships/image" Target="../media/image57.jpg"/><Relationship Id="rId4" Type="http://schemas.openxmlformats.org/officeDocument/2006/relationships/image" Target="../media/image56.jp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jpg"/><Relationship Id="rId4" Type="http://schemas.openxmlformats.org/officeDocument/2006/relationships/image" Target="../media/image6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jpg"/><Relationship Id="rId4" Type="http://schemas.openxmlformats.org/officeDocument/2006/relationships/image" Target="../media/image70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jpg"/><Relationship Id="rId4" Type="http://schemas.openxmlformats.org/officeDocument/2006/relationships/image" Target="../media/image73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jpg"/><Relationship Id="rId4" Type="http://schemas.openxmlformats.org/officeDocument/2006/relationships/image" Target="../media/image76.jp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3.jpg"/><Relationship Id="rId4" Type="http://schemas.openxmlformats.org/officeDocument/2006/relationships/image" Target="../media/image82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jpg"/><Relationship Id="rId4" Type="http://schemas.openxmlformats.org/officeDocument/2006/relationships/image" Target="../media/image85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jpg"/><Relationship Id="rId4" Type="http://schemas.openxmlformats.org/officeDocument/2006/relationships/image" Target="../media/image88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jpg"/><Relationship Id="rId4" Type="http://schemas.openxmlformats.org/officeDocument/2006/relationships/image" Target="../media/image91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1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ePlaNet 앱 아이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51560"/>
            <a:ext cx="658368" cy="6583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C8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팬 커뮤니티 플랫폼  ·  시연 발표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331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</a:t>
            </a:r>
            <a:r>
              <a:rPr lang="en-US" sz="4400" b="1" dirty="0">
                <a:solidFill>
                  <a:srgbClr val="F7C8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</a:t>
            </a: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91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4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아티스트와 팬, 소속사와 운영자를 하나로 잇는 팬덤 플랫폼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987397"/>
            <a:ext cx="36911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DSA BUSAN 14 – IT 4</a:t>
            </a:r>
            <a:r>
              <a:rPr lang="ko-KR" altLang="en-US" sz="105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</a:t>
            </a:r>
            <a:endParaRPr lang="en-US" altLang="ko-KR" sz="1050" dirty="0">
              <a:solidFill>
                <a:srgbClr val="C9C3B6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spcAft>
                <a:spcPts val="400"/>
              </a:spcAft>
            </a:pPr>
            <a:r>
              <a:rPr lang="ko-KR" altLang="en-US" sz="105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정휘원</a:t>
            </a:r>
            <a:r>
              <a:rPr lang="en-US" altLang="ko-KR" sz="105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05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조장</a:t>
            </a:r>
            <a:r>
              <a:rPr lang="en-US" altLang="ko-KR" sz="105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∙ </a:t>
            </a:r>
            <a:r>
              <a:rPr lang="ko-KR" altLang="en-US" sz="1050" dirty="0" err="1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권형준</a:t>
            </a:r>
            <a:r>
              <a:rPr lang="ko-KR" altLang="en-US" sz="105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∙</a:t>
            </a:r>
            <a:r>
              <a:rPr lang="ko-KR" altLang="en-US" sz="105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 err="1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김화평</a:t>
            </a:r>
            <a:r>
              <a:rPr lang="ko-KR" altLang="en-US" sz="105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∙</a:t>
            </a:r>
            <a:r>
              <a:rPr lang="ko-KR" altLang="en-US" sz="105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 err="1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위석현</a:t>
            </a:r>
            <a:r>
              <a:rPr lang="ko-KR" altLang="en-US" sz="105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∙</a:t>
            </a:r>
            <a:r>
              <a:rPr lang="ko-KR" altLang="en-US" sz="105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조정식 </a:t>
            </a:r>
            <a:r>
              <a:rPr lang="en-US" altLang="ko-KR" sz="105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∙</a:t>
            </a:r>
            <a:r>
              <a:rPr lang="ko-KR" altLang="en-US" sz="105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 err="1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한혜선</a:t>
            </a:r>
            <a:endParaRPr lang="en-US" altLang="ko-KR" sz="1050" dirty="0">
              <a:solidFill>
                <a:srgbClr val="C9C3B6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31520" y="5943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2026. 10</a:t>
            </a:r>
            <a:endParaRPr lang="en-US" sz="1000" dirty="0"/>
          </a:p>
        </p:txBody>
      </p:sp>
      <p:sp>
        <p:nvSpPr>
          <p:cNvPr id="8" name="frame-162_home_event_banner"/>
          <p:cNvSpPr/>
          <p:nvPr/>
        </p:nvSpPr>
        <p:spPr>
          <a:xfrm>
            <a:off x="6492240" y="1371600"/>
            <a:ext cx="5120640" cy="34381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492240" y="1371600"/>
            <a:ext cx="512064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583680" y="144932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702552" y="144932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821424" y="144932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995160" y="1412748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7059168" y="1412748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localhost:9999/</a:t>
            </a:r>
            <a:endParaRPr lang="en-US" sz="650" dirty="0"/>
          </a:p>
        </p:txBody>
      </p:sp>
      <p:pic>
        <p:nvPicPr>
          <p:cNvPr id="15" name="Image 1" descr="localhost:9999/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609344"/>
            <a:ext cx="5120640" cy="3200400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DF8D59C3-6F9A-BD4C-67F5-CE083E26C80A}"/>
              </a:ext>
            </a:extLst>
          </p:cNvPr>
          <p:cNvSpPr txBox="1"/>
          <p:nvPr/>
        </p:nvSpPr>
        <p:spPr>
          <a:xfrm>
            <a:off x="731520" y="384094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· 멤버십 · DM · 라이브 · 굿즈샵 · 팬 프로젝트 · 배지 · 해시태그 총공</a:t>
            </a:r>
            <a:endParaRPr lang="en-US" sz="10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기준: main-distribution (d7e6d9a) + 10/5 수정 (로고 · DM 알림 · 금칙어 등)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순서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731520" y="1764792"/>
            <a:ext cx="640080" cy="640080"/>
          </a:xfrm>
          <a:prstGeom prst="ellipse">
            <a:avLst/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31520" y="1764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0756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무엇을, 왜 만들었나 · 기술 스택 · 아키텍처 · 데이터 모델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72200" y="141732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446520" y="1764792"/>
            <a:ext cx="640080" cy="640080"/>
          </a:xfrm>
          <a:prstGeom prst="ellipse">
            <a:avLst/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6446520" y="1764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 서비스 시연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20756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커뮤니티 · AI 요약/번역 · 멤버십 · DM(안 읽은 개수) · 금칙어 · 굿즈 · 프로젝트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97180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31520" y="3319272"/>
            <a:ext cx="640080" cy="640080"/>
          </a:xfrm>
          <a:prstGeom prst="ellipse">
            <a:avLst/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731520" y="33192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60020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 · 소속사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36301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입점 · 그룹 로그인 · 멤버 프로필 · 아티스트 포털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72200" y="297180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6446520" y="3319272"/>
            <a:ext cx="640080" cy="640080"/>
          </a:xfrm>
          <a:prstGeom prst="ellipse">
            <a:avLst/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6446520" y="33192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31520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콘솔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0" y="36301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인증 · 회원/소속사 승인 · 신고 · 배너 · 해시태그 총공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452628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731520" y="4873752"/>
            <a:ext cx="640080" cy="640080"/>
          </a:xfrm>
          <a:prstGeom prst="ellipse">
            <a:avLst/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731520" y="4873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600200" y="4800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설명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600200" y="51846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실시간(STOMP/WebRTC) · 이벤트 · 보안 · 다국어 · 스케줄러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172200" y="452628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6446520" y="4873752"/>
            <a:ext cx="640080" cy="640080"/>
          </a:xfrm>
          <a:prstGeom prst="ellipse">
            <a:avLst/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6446520" y="48737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315200" y="4800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수정 · 테스트 · 개선 과제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7315200" y="51846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10/5 수정 6건 · 기능 테스트 19건 · 화이트보드 대비 변경점 · 남은 과제</a:t>
            </a:r>
            <a:endParaRPr lang="en-US" sz="10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프로젝트 개요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· 왜 만들었나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 계정 = 하나의 커뮤니티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팬은 커뮤니티마다 따로 가입하고, 커뮤니티별 닉네임·프로필을 가집니다.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아티스트(그룹/솔로)는 게시판·미디어·라이브·DM으로 팬과 소통합니다.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소속사는 포털에서 공지·스케줄·굿즈·멤버를 관리합니다.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운영자는 입점 승인, 신고 제재, 팬 프로젝트 심사, 이벤트를 운영합니다.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5개(FAN · ARTIST · ARTIST_MEMBER · AGENCY · ADMIN)가 users 테이블 하나에 공존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760720" y="137160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576072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37,844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2395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코드 줄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컨트롤러 47 · 서비스 74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772400" y="137160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777240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293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7772400" y="2395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매핑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STOMP 메시지 10개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784080" y="137160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978408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9784080" y="2395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테이블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987552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간소화 (60 → 56)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760720" y="361188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5760720" y="3931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5760720" y="4636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Thymeleaf 화면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852160" y="4983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 · 포털 · 관리자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772400" y="361188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7772400" y="3931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4636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언어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863840" y="4983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 · JA · EN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9784080" y="361188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9784080" y="3931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2800" dirty="0"/>
          </a:p>
        </p:txBody>
      </p:sp>
      <p:sp>
        <p:nvSpPr>
          <p:cNvPr id="28" name="Text 25"/>
          <p:cNvSpPr txBox="1"/>
          <p:nvPr/>
        </p:nvSpPr>
        <p:spPr>
          <a:xfrm>
            <a:off x="9784080" y="4636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9875520" y="4983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동기화 · 휴면 · 배지</a:t>
            </a:r>
            <a:endParaRPr lang="en-US" sz="9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프로젝트 개요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651760" cy="4754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2286000" cy="438912"/>
          </a:xfrm>
          <a:prstGeom prst="roundRect">
            <a:avLst>
              <a:gd name="adj" fmla="val 12500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640080" y="15544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194560"/>
            <a:ext cx="2331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21</a:t>
            </a:r>
            <a:endParaRPr lang="en-US" sz="11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4.1.0</a:t>
            </a:r>
            <a:endParaRPr lang="en-US" sz="11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Data JPA (Hibernate)</a:t>
            </a:r>
            <a:endParaRPr lang="en-US" sz="11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Security + OAuth2 Client</a:t>
            </a:r>
            <a:endParaRPr lang="en-US" sz="11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Bean Validation · Spring Mail</a:t>
            </a:r>
            <a:endParaRPr lang="en-US" sz="11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@Scheduled · @TransactionalEventListener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651760" cy="4754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474720" y="1554480"/>
            <a:ext cx="2286000" cy="438912"/>
          </a:xfrm>
          <a:prstGeom prst="roundRect">
            <a:avLst>
              <a:gd name="adj" fmla="val 12500"/>
            </a:avLst>
          </a:prstGeom>
          <a:solidFill>
            <a:srgbClr val="8C4A54"/>
          </a:solidFill>
          <a:ln w="12700">
            <a:solidFill>
              <a:srgbClr val="8C4A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3474720" y="15544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Realtime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493008" y="2194560"/>
            <a:ext cx="2331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WebSocket + STOMP</a:t>
            </a:r>
            <a:endParaRPr lang="en-US" sz="11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/app/chat.send → /topic/chat.*</a:t>
            </a:r>
            <a:endParaRPr lang="en-US" sz="11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WebRTC P2P 라이브 영상</a:t>
            </a:r>
            <a:endParaRPr lang="en-US" sz="11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서버는 offer/answer/ICE만 중계</a:t>
            </a:r>
            <a:endParaRPr lang="en-US" sz="11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STUN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26480" y="1371600"/>
            <a:ext cx="2651760" cy="4754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309360" y="1554480"/>
            <a:ext cx="2286000" cy="438912"/>
          </a:xfrm>
          <a:prstGeom prst="roundRect">
            <a:avLst>
              <a:gd name="adj" fmla="val 12500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6309360" y="15544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327648" y="2194560"/>
            <a:ext cx="2331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Thymeleaf + Security Extras</a:t>
            </a:r>
            <a:endParaRPr lang="en-US" sz="11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Vanilla JS (shell.js, dm-realtime.js 등)</a:t>
            </a:r>
            <a:endParaRPr lang="en-US" sz="11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Toast UI Editor (게시글·공지)</a:t>
            </a:r>
            <a:endParaRPr lang="en-US" sz="11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 변수 기반 다크모드</a:t>
            </a:r>
            <a:endParaRPr lang="en-US" sz="11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반응형 레이아웃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961120" y="1371600"/>
            <a:ext cx="2651760" cy="4754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9144000" y="1554480"/>
            <a:ext cx="2286000" cy="438912"/>
          </a:xfrm>
          <a:prstGeom prst="roundRect">
            <a:avLst>
              <a:gd name="adj" fmla="val 12500"/>
            </a:avLst>
          </a:prstGeom>
          <a:solidFill>
            <a:srgbClr val="63704A"/>
          </a:solidFill>
          <a:ln w="12700">
            <a:solidFill>
              <a:srgbClr val="6370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9144000" y="15544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· 외부 연동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162288" y="2194560"/>
            <a:ext cx="2331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8 (ddl-auto=validate)</a:t>
            </a:r>
            <a:endParaRPr lang="en-US" sz="11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 Payments 가상계좌 (테스트 키)</a:t>
            </a:r>
            <a:endParaRPr lang="en-US" sz="11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Gemini API (요약·번역·AI 팬)</a:t>
            </a:r>
            <a:endParaRPr lang="en-US" sz="11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 SMTP (인증·알림 메일)</a:t>
            </a:r>
            <a:endParaRPr lang="en-US" sz="11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· Kakao · LINE 소셜 로그인</a:t>
            </a:r>
            <a:endParaRPr lang="en-US" sz="1150" dirty="0"/>
          </a:p>
          <a:p>
            <a:pPr marL="127000" indent="-1270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JAR + ngrok 고정 주소로 시연 배포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프로젝트 개요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 — 모놀리스 1개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2377440" cy="42062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457200" y="1463040"/>
            <a:ext cx="2377440" cy="420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011680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BEEF1"/>
          </a:solidFill>
          <a:ln w="9525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64008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 화면  /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2706624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BEEF1"/>
          </a:solidFill>
          <a:ln w="9525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640080" y="2706624"/>
            <a:ext cx="2011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 포털  /portal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" y="3401568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BEEF1"/>
          </a:solidFill>
          <a:ln w="9525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640080" y="3401568"/>
            <a:ext cx="2011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 /admin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0080" y="4096512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FF3DF"/>
          </a:solidFill>
          <a:ln w="9525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640080" y="4096512"/>
            <a:ext cx="2011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STOMP 클라이언트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0080" y="4791456"/>
            <a:ext cx="2011680" cy="548640"/>
          </a:xfrm>
          <a:prstGeom prst="roundRect">
            <a:avLst>
              <a:gd name="adj" fmla="val 10000"/>
            </a:avLst>
          </a:prstGeom>
          <a:solidFill>
            <a:srgbClr val="FFF3DF"/>
          </a:solidFill>
          <a:ln w="9525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40080" y="4791456"/>
            <a:ext cx="2011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WebRTC (라이브)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566160" y="1463040"/>
            <a:ext cx="4846320" cy="4206240"/>
          </a:xfrm>
          <a:prstGeom prst="roundRect">
            <a:avLst>
              <a:gd name="adj" fmla="val 1304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356616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4.1 애플리케이션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794760" y="2011680"/>
            <a:ext cx="3200400" cy="621792"/>
          </a:xfrm>
          <a:prstGeom prst="roundRect">
            <a:avLst>
              <a:gd name="adj" fmla="val 7353"/>
            </a:avLst>
          </a:prstGeom>
          <a:solidFill>
            <a:srgbClr val="3A4754"/>
          </a:solidFill>
          <a:ln w="12700">
            <a:solidFill>
              <a:srgbClr val="4A576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3886200" y="201168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 Filter Chain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LoginSuccessHandler · 로그인 시도 제한 · 슬러그 필터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794760" y="2761488"/>
            <a:ext cx="3200400" cy="621792"/>
          </a:xfrm>
          <a:prstGeom prst="roundRect">
            <a:avLst>
              <a:gd name="adj" fmla="val 7353"/>
            </a:avLst>
          </a:prstGeom>
          <a:solidFill>
            <a:srgbClr val="3A4754"/>
          </a:solidFill>
          <a:ln w="12700">
            <a:solidFill>
              <a:srgbClr val="4A576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3886200" y="2761488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Controller 47 / STOMP 10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Thymeleaf 화면 + JSON API(293) + @MessageMapping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794760" y="3511296"/>
            <a:ext cx="3200400" cy="621792"/>
          </a:xfrm>
          <a:prstGeom prst="roundRect">
            <a:avLst>
              <a:gd name="adj" fmla="val 7353"/>
            </a:avLst>
          </a:prstGeom>
          <a:solidFill>
            <a:srgbClr val="3A4754"/>
          </a:solidFill>
          <a:ln w="12700">
            <a:solidFill>
              <a:srgbClr val="4A576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3886200" y="3511296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 74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트랜잭션 · 결제 · 배지/해시태그 이벤트 발행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794760" y="4261104"/>
            <a:ext cx="3200400" cy="621792"/>
          </a:xfrm>
          <a:prstGeom prst="roundRect">
            <a:avLst>
              <a:gd name="adj" fmla="val 7353"/>
            </a:avLst>
          </a:prstGeom>
          <a:solidFill>
            <a:srgbClr val="3A4754"/>
          </a:solidFill>
          <a:ln w="12700">
            <a:solidFill>
              <a:srgbClr val="4A576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3886200" y="4261104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Repository 54 (JPA)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엔티티 67개 · 행 잠금(PESSIMISTIC_WRITE)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132320" y="2011680"/>
            <a:ext cx="1097280" cy="621792"/>
          </a:xfrm>
          <a:prstGeom prst="roundRect">
            <a:avLst>
              <a:gd name="adj" fmla="val 7353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132320" y="201168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Scheduler 9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7132320" y="2761488"/>
            <a:ext cx="1097280" cy="621792"/>
          </a:xfrm>
          <a:prstGeom prst="roundRect">
            <a:avLst>
              <a:gd name="adj" fmla="val 7353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7132320" y="276148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Listener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(AFTER_COMMIT)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7132320" y="3511296"/>
            <a:ext cx="1097280" cy="621792"/>
          </a:xfrm>
          <a:prstGeom prst="roundRect">
            <a:avLst>
              <a:gd name="adj" fmla="val 7353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7132320" y="351129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i18n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MessageSource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7132320" y="4261104"/>
            <a:ext cx="1097280" cy="621792"/>
          </a:xfrm>
          <a:prstGeom prst="roundRect">
            <a:avLst>
              <a:gd name="adj" fmla="val 7353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7132320" y="426110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Sender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3794760" y="5120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7C8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/uploads (로컬 파일 저장)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834640" y="2743200"/>
            <a:ext cx="731520" cy="914"/>
          </a:xfrm>
          <a:prstGeom prst="line">
            <a:avLst/>
          </a:prstGeom>
          <a:noFill/>
          <a:ln w="15875">
            <a:solidFill>
              <a:srgbClr val="A85D6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2651760" y="25237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2834640" y="4206240"/>
            <a:ext cx="731520" cy="914"/>
          </a:xfrm>
          <a:prstGeom prst="line">
            <a:avLst/>
          </a:prstGeom>
          <a:noFill/>
          <a:ln w="15875">
            <a:solidFill>
              <a:srgbClr val="A85D6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 txBox="1"/>
          <p:nvPr/>
        </p:nvSpPr>
        <p:spPr>
          <a:xfrm>
            <a:off x="2651760" y="39867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9144000" y="1463040"/>
            <a:ext cx="258775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 txBox="1"/>
          <p:nvPr/>
        </p:nvSpPr>
        <p:spPr>
          <a:xfrm>
            <a:off x="9144000" y="1463040"/>
            <a:ext cx="2587752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weplanet 스키마 · 56 테이블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412480" y="1965960"/>
            <a:ext cx="731520" cy="914"/>
          </a:xfrm>
          <a:prstGeom prst="line">
            <a:avLst/>
          </a:prstGeom>
          <a:noFill/>
          <a:ln w="15875">
            <a:solidFill>
              <a:srgbClr val="5A677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8229600" y="17465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JPA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9144000" y="2743200"/>
            <a:ext cx="2587752" cy="603504"/>
          </a:xfrm>
          <a:prstGeom prst="roundRect">
            <a:avLst>
              <a:gd name="adj" fmla="val 9091"/>
            </a:avLst>
          </a:prstGeom>
          <a:solidFill>
            <a:srgbClr val="FBEEF1"/>
          </a:solidFill>
          <a:ln w="9525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 txBox="1"/>
          <p:nvPr/>
        </p:nvSpPr>
        <p:spPr>
          <a:xfrm>
            <a:off x="9144000" y="2743200"/>
            <a:ext cx="258775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9235440" y="2743200"/>
            <a:ext cx="2404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 Payments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가상계좌 · 웹훅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144000" y="3474720"/>
            <a:ext cx="2587752" cy="603504"/>
          </a:xfrm>
          <a:prstGeom prst="roundRect">
            <a:avLst>
              <a:gd name="adj" fmla="val 9091"/>
            </a:avLst>
          </a:prstGeom>
          <a:solidFill>
            <a:srgbClr val="FBEEF1"/>
          </a:solidFill>
          <a:ln w="9525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 txBox="1"/>
          <p:nvPr/>
        </p:nvSpPr>
        <p:spPr>
          <a:xfrm>
            <a:off x="9144000" y="3474720"/>
            <a:ext cx="258775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235440" y="3474720"/>
            <a:ext cx="2404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Gemini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· 번역 · AI 팬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144000" y="4206240"/>
            <a:ext cx="2587752" cy="603504"/>
          </a:xfrm>
          <a:prstGeom prst="roundRect">
            <a:avLst>
              <a:gd name="adj" fmla="val 9091"/>
            </a:avLst>
          </a:prstGeom>
          <a:solidFill>
            <a:srgbClr val="FBEEF1"/>
          </a:solidFill>
          <a:ln w="9525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9144000" y="4206240"/>
            <a:ext cx="258775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9235440" y="4206240"/>
            <a:ext cx="2404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 SMTP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인증번호 · 알림 메일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144000" y="4937760"/>
            <a:ext cx="2587752" cy="603504"/>
          </a:xfrm>
          <a:prstGeom prst="roundRect">
            <a:avLst>
              <a:gd name="adj" fmla="val 9091"/>
            </a:avLst>
          </a:prstGeom>
          <a:solidFill>
            <a:srgbClr val="FBEEF1"/>
          </a:solidFill>
          <a:ln w="9525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 txBox="1"/>
          <p:nvPr/>
        </p:nvSpPr>
        <p:spPr>
          <a:xfrm>
            <a:off x="9144000" y="4937760"/>
            <a:ext cx="258775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9235440" y="4937760"/>
            <a:ext cx="2404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OAuth2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· Kakao · LINE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8412480" y="3931920"/>
            <a:ext cx="731520" cy="914"/>
          </a:xfrm>
          <a:prstGeom prst="line">
            <a:avLst/>
          </a:prstGeom>
          <a:noFill/>
          <a:ln w="15875">
            <a:solidFill>
              <a:srgbClr val="5A677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 txBox="1"/>
          <p:nvPr/>
        </p:nvSpPr>
        <p:spPr>
          <a:xfrm>
            <a:off x="8229600" y="37124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</a:t>
            </a:r>
            <a:endParaRPr lang="en-US" sz="800" dirty="0"/>
          </a:p>
        </p:txBody>
      </p:sp>
      <p:sp>
        <p:nvSpPr>
          <p:cNvPr id="59" name="Text 56"/>
          <p:cNvSpPr txBox="1"/>
          <p:nvPr/>
        </p:nvSpPr>
        <p:spPr>
          <a:xfrm>
            <a:off x="457200" y="5806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영상은 서버를 거치지 않는 브라우저 간 P2P (Google STUN만 사용)</a:t>
            </a:r>
            <a:endParaRPr lang="en-US" sz="95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프로젝트 개요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5가지와 진입점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2103120" cy="4480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94360" y="157276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59436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360" y="2606040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FBFAF7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594360" y="2606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 ·  /community/{id}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10896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가입 · 글/댓글 · 멤버십 · DM · 굿즈 · 팬 프로젝트 · 컬렉션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743200" y="1417320"/>
            <a:ext cx="2103120" cy="4480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880360" y="157276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8C4A54"/>
          </a:solidFill>
          <a:ln w="12700">
            <a:solidFill>
              <a:srgbClr val="8C4A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288036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ARTIST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28803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/ 솔로 계정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880360" y="2606040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FBFAF7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2880360" y="2606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/portal/login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926080" y="310896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id = 커뮤니티 id. 그룹은 로그인 후 멤버 프로필을 고릅니다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0" y="1417320"/>
            <a:ext cx="2103120" cy="4480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5166360" y="157276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7A4A63"/>
          </a:solidFill>
          <a:ln w="12700">
            <a:solidFill>
              <a:srgbClr val="7A4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516636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ARTIST_MEMBER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1663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멤버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166360" y="2606040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FBFAF7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5166360" y="2606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/portal/profiles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5212080" y="310896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비밀번호로 입장 → 아티스트 게시판 · 라이브 · 팬 DM 수신 (배지·컬렉션 없음)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315200" y="1417320"/>
            <a:ext cx="2103120" cy="4480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7452360" y="157276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63704A"/>
          </a:solidFill>
          <a:ln w="12700">
            <a:solidFill>
              <a:srgbClr val="6370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745236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AGENCY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74523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소속사 담당자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452360" y="2606040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FBFAF7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7452360" y="2606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/portal/dashboard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7498080" y="310896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권한 승인 후 공지·스케줄·미디어·굿즈·방송·멤버 관리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9601200" y="1417320"/>
            <a:ext cx="2103120" cy="4480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9738360" y="157276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973836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97383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9738360" y="2606040"/>
            <a:ext cx="1828800" cy="329184"/>
          </a:xfrm>
          <a:prstGeom prst="roundRect">
            <a:avLst>
              <a:gd name="adj" fmla="val 13889"/>
            </a:avLst>
          </a:prstGeom>
          <a:solidFill>
            <a:srgbClr val="FBFAF7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9738360" y="2606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/admin/login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9784080" y="310896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2단계 인증 → 승인·제재·배너·공지·이벤트 운영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603504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/login 성공 → adminLogin? → /admin  |  portalLogin? → 역할 확인 → 그룹이면 /portal/profiles  |  그 외 → 팬 홈</a:t>
            </a:r>
            <a:endParaRPr lang="en-US" sz="95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프로젝트 개요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모델 — 8개 도메인, 56개 테이블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640080" y="1508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554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· 조직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5740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· agencies · admin_profiles · agency_profiles · artist_profiles · artist_groups · artist_profile · group_members · partnership_applications · email_verification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3474720" y="1508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069080" y="1554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205740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community_members · user_follows · post · post_attachment · post_like · post_bookmark · comment · portal_notice · site_notice · notification · artist_schedule · artist_attendance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26480" y="13716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6309360" y="1508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1554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미디어 · 라이브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205740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board_media · board_media_files · board_media_like · live_session · live_comment · live_comment_report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961120" y="13716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9144000" y="1508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9738360" y="1554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· 운영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0" y="205740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· comment_report · artist_block · admin_action_logs · filter_keyword · main_banner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7200" y="347472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640080" y="3611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1234440" y="3657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멤버십 · DM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416052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· membership_period · membership_order · chat_message · chat_quota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91840" y="347472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3474720" y="3611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37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4069080" y="3657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굿즈샵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3474720" y="416052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shop_goods · shop_goods_category · shop_goods_option · shop_goods_variant · shop_cart_item · shop_order · shop_order_item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126480" y="347472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6309360" y="3611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6903720" y="3657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 프로젝트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309360" y="416052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fan_project · fan_project_cover_image · fan_project_contribution · fan_project_settlement_account · fan_project_fraud_check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961120" y="347472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9144000" y="3611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Text 32"/>
          <p:cNvSpPr txBox="1"/>
          <p:nvPr/>
        </p:nvSpPr>
        <p:spPr>
          <a:xfrm>
            <a:off x="9738360" y="3657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배지 · 이벤트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9144000" y="416052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fan_badge · fan_badge_ownership · hashtag_event · hashtag_event_target · hashtag_event_entry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566928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설계  </a:t>
            </a: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 계정 id = 커뮤니티 id (/community/{id} = artist_groups.id = board_media.group_id)   ·   v2: group_schedule·notification_setting 삭제, community_profiles → community_members 통합</a:t>
            </a:r>
            <a:endParaRPr lang="en-US" sz="95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2011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7C8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2880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 서비스 시연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계정 demo_fan15 (6개 커뮤니티 가입 + 멤버십 보유) 로 실제 기능을 실행하며 캡처했습니다.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메인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홈 — 비회원과 로그인 팬</a:t>
            </a:r>
            <a:endParaRPr lang="en-US" sz="2200" dirty="0"/>
          </a:p>
        </p:txBody>
      </p:sp>
      <p:sp>
        <p:nvSpPr>
          <p:cNvPr id="4" name="role-FAN"/>
          <p:cNvSpPr/>
          <p:nvPr/>
        </p:nvSpPr>
        <p:spPr>
          <a:xfrm>
            <a:off x="11300155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300155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</a:t>
            </a:r>
            <a:endParaRPr lang="en-US" sz="850" dirty="0"/>
          </a:p>
        </p:txBody>
      </p:sp>
      <p:sp>
        <p:nvSpPr>
          <p:cNvPr id="6" name="role-GUEST"/>
          <p:cNvSpPr/>
          <p:nvPr/>
        </p:nvSpPr>
        <p:spPr>
          <a:xfrm>
            <a:off x="10792663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94A0AC"/>
          </a:solidFill>
          <a:ln w="12700">
            <a:solidFill>
              <a:srgbClr val="94A0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0792663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비회원</a:t>
            </a:r>
            <a:endParaRPr lang="en-US" sz="850" dirty="0"/>
          </a:p>
        </p:txBody>
      </p:sp>
      <p:sp>
        <p:nvSpPr>
          <p:cNvPr id="9" name="frame-01_home"/>
          <p:cNvSpPr/>
          <p:nvPr/>
        </p:nvSpPr>
        <p:spPr>
          <a:xfrm>
            <a:off x="457200" y="1444752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7200" y="1444752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48640" y="1522476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67512" y="1522476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86384" y="1522476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60120" y="1485900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024128" y="1485900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localhost:9999/</a:t>
            </a:r>
            <a:endParaRPr lang="en-US" sz="650" dirty="0"/>
          </a:p>
        </p:txBody>
      </p:sp>
      <p:pic>
        <p:nvPicPr>
          <p:cNvPr id="16" name="Image 0" descr="localhost:9999/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2496"/>
            <a:ext cx="5486400" cy="34290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57200" y="527608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비회원 홈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관리자가 등록한 메인 배너 캐러셀, 가입 유도 카드, 최신 인기 포스트, 급상승 커뮤니티를 보여줍니다.</a:t>
            </a:r>
            <a:endParaRPr lang="en-US" sz="1200" dirty="0"/>
          </a:p>
        </p:txBody>
      </p:sp>
      <p:sp>
        <p:nvSpPr>
          <p:cNvPr id="18" name="frame-20_fan_home"/>
          <p:cNvSpPr/>
          <p:nvPr/>
        </p:nvSpPr>
        <p:spPr>
          <a:xfrm>
            <a:off x="6245352" y="1444752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245352" y="1444752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336792" y="1522476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455664" y="1522476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6574536" y="1522476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6748272" y="1485900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6812280" y="1485900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localhost:9999/</a:t>
            </a:r>
            <a:endParaRPr lang="en-US" sz="650" dirty="0"/>
          </a:p>
        </p:txBody>
      </p:sp>
      <p:pic>
        <p:nvPicPr>
          <p:cNvPr id="25" name="Image 1" descr="localhost:9999/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682496"/>
            <a:ext cx="5486400" cy="34290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6245352" y="527608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팬 홈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가입한 커뮤니티의 이번 주 일정을 요일별로 모아 보여주고, 우측 하단에 캘린더·DM 버튼이 항상 떠 있습니다.</a:t>
            </a:r>
            <a:endParaRPr lang="en-US" sz="12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계정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· 로그인 · 계정 찾기</a:t>
            </a:r>
            <a:endParaRPr lang="en-US" sz="2200" dirty="0"/>
          </a:p>
        </p:txBody>
      </p:sp>
      <p:sp>
        <p:nvSpPr>
          <p:cNvPr id="4" name="role-GUEST"/>
          <p:cNvSpPr/>
          <p:nvPr/>
        </p:nvSpPr>
        <p:spPr>
          <a:xfrm>
            <a:off x="11300155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94A0AC"/>
          </a:solidFill>
          <a:ln w="12700">
            <a:solidFill>
              <a:srgbClr val="94A0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300155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비회원</a:t>
            </a:r>
            <a:endParaRPr lang="en-US" sz="850" dirty="0"/>
          </a:p>
        </p:txBody>
      </p:sp>
      <p:sp>
        <p:nvSpPr>
          <p:cNvPr id="7" name="frame-04_signup"/>
          <p:cNvSpPr/>
          <p:nvPr/>
        </p:nvSpPr>
        <p:spPr>
          <a:xfrm>
            <a:off x="457200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/signup</a:t>
            </a:r>
            <a:endParaRPr lang="en-US" sz="650" dirty="0"/>
          </a:p>
        </p:txBody>
      </p:sp>
      <p:pic>
        <p:nvPicPr>
          <p:cNvPr id="14" name="Image 0" descr="/sign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31708"/>
            <a:ext cx="3611880" cy="22574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방식 선택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· Kakao · LINE 소셜 가입 또는 아이디 가입. 소셜은 가입 전 확인 화면을 거칩니다.</a:t>
            </a:r>
            <a:endParaRPr lang="en-US" sz="1200" dirty="0"/>
          </a:p>
        </p:txBody>
      </p:sp>
      <p:sp>
        <p:nvSpPr>
          <p:cNvPr id="16" name="frame-05_signup_id"/>
          <p:cNvSpPr/>
          <p:nvPr/>
        </p:nvSpPr>
        <p:spPr>
          <a:xfrm>
            <a:off x="4288536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288536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379976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498848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617720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4791456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4855464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/signup/id</a:t>
            </a:r>
            <a:endParaRPr lang="en-US" sz="650" dirty="0"/>
          </a:p>
        </p:txBody>
      </p:sp>
      <p:pic>
        <p:nvPicPr>
          <p:cNvPr id="23" name="Image 1" descr="/signup/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2231708"/>
            <a:ext cx="3611880" cy="225742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288536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 가입 + 이메일 인증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인증코드 5분 유효, 60초 재발송 제한, 하루 10회(IP 20회) 발송 한도, 5회 오입력 시 폐기.</a:t>
            </a:r>
            <a:endParaRPr lang="en-US" sz="1200" dirty="0"/>
          </a:p>
        </p:txBody>
      </p:sp>
      <p:sp>
        <p:nvSpPr>
          <p:cNvPr id="25" name="frame-03_login_id"/>
          <p:cNvSpPr/>
          <p:nvPr/>
        </p:nvSpPr>
        <p:spPr>
          <a:xfrm>
            <a:off x="8119872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8119872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8211312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8330184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8449056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8622792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8686800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/login/id</a:t>
            </a:r>
            <a:endParaRPr lang="en-US" sz="650" dirty="0"/>
          </a:p>
        </p:txBody>
      </p:sp>
      <p:pic>
        <p:nvPicPr>
          <p:cNvPr id="32" name="Image 2" descr="/login/i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2231708"/>
            <a:ext cx="3611880" cy="225742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119872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아이디/비밀번호 찾기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 안에 5회 실패하면 10분 잠금(IP 기준 20회). 새 로그인 시 이전 세션 종료(동시 로그인 1개).</a:t>
            </a:r>
            <a:endParaRPr lang="en-US" sz="12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공개 화면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공지사항 · 약관 · 비회원 샵</a:t>
            </a:r>
            <a:endParaRPr lang="en-US" sz="2200" dirty="0"/>
          </a:p>
        </p:txBody>
      </p:sp>
      <p:sp>
        <p:nvSpPr>
          <p:cNvPr id="4" name="role-GUEST"/>
          <p:cNvSpPr/>
          <p:nvPr/>
        </p:nvSpPr>
        <p:spPr>
          <a:xfrm>
            <a:off x="11300155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94A0AC"/>
          </a:solidFill>
          <a:ln w="12700">
            <a:solidFill>
              <a:srgbClr val="94A0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300155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비회원</a:t>
            </a:r>
            <a:endParaRPr lang="en-US" sz="850" dirty="0"/>
          </a:p>
        </p:txBody>
      </p:sp>
      <p:sp>
        <p:nvSpPr>
          <p:cNvPr id="7" name="frame-08_notices"/>
          <p:cNvSpPr/>
          <p:nvPr/>
        </p:nvSpPr>
        <p:spPr>
          <a:xfrm>
            <a:off x="457200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/notices</a:t>
            </a:r>
            <a:endParaRPr lang="en-US" sz="650" dirty="0"/>
          </a:p>
        </p:txBody>
      </p:sp>
      <p:pic>
        <p:nvPicPr>
          <p:cNvPr id="14" name="Image 0" descr="/notic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31708"/>
            <a:ext cx="3611880" cy="22574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사이트 공지사항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관리자가 올린 전체 공지. 카테고리(점검·업데이트·이벤트) 필터, 상단 고정.</a:t>
            </a:r>
            <a:endParaRPr lang="en-US" sz="1200" dirty="0"/>
          </a:p>
        </p:txBody>
      </p:sp>
      <p:sp>
        <p:nvSpPr>
          <p:cNvPr id="16" name="frame-09_terms"/>
          <p:cNvSpPr/>
          <p:nvPr/>
        </p:nvSpPr>
        <p:spPr>
          <a:xfrm>
            <a:off x="4288536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288536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379976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498848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617720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4791456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4855464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/policy/terms</a:t>
            </a:r>
            <a:endParaRPr lang="en-US" sz="650" dirty="0"/>
          </a:p>
        </p:txBody>
      </p:sp>
      <p:pic>
        <p:nvPicPr>
          <p:cNvPr id="23" name="Image 1" descr="/policy/term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2231708"/>
            <a:ext cx="3611880" cy="225742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288536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이용약관 · 개인정보처리방침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원문 + 일본어·영어 번역본 (번역본 상단에 원문 우선 안내).</a:t>
            </a:r>
            <a:endParaRPr lang="en-US" sz="1200" dirty="0"/>
          </a:p>
        </p:txBody>
      </p:sp>
      <p:sp>
        <p:nvSpPr>
          <p:cNvPr id="25" name="frame-13_shop_guest"/>
          <p:cNvSpPr/>
          <p:nvPr/>
        </p:nvSpPr>
        <p:spPr>
          <a:xfrm>
            <a:off x="8119872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8119872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8211312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8330184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8449056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8622792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8686800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/shop</a:t>
            </a:r>
            <a:endParaRPr lang="en-US" sz="650" dirty="0"/>
          </a:p>
        </p:txBody>
      </p:sp>
      <p:pic>
        <p:nvPicPr>
          <p:cNvPr id="32" name="Image 2" descr="/sho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2231708"/>
            <a:ext cx="3611880" cy="225742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119872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비회원도 볼 수 있는 샵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탐색은 누구나 가능하고, 장바구니·구매부터 로그인이 필요합니다.</a:t>
            </a:r>
            <a:endParaRPr lang="en-US" sz="12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탐색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검색 · 사이드 메뉴</a:t>
            </a:r>
            <a:endParaRPr lang="en-US" sz="2200" dirty="0"/>
          </a:p>
        </p:txBody>
      </p:sp>
      <p:sp>
        <p:nvSpPr>
          <p:cNvPr id="4" name="role-FAN"/>
          <p:cNvSpPr/>
          <p:nvPr/>
        </p:nvSpPr>
        <p:spPr>
          <a:xfrm>
            <a:off x="11300155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300155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</a:t>
            </a:r>
            <a:endParaRPr lang="en-US" sz="850" dirty="0"/>
          </a:p>
        </p:txBody>
      </p:sp>
      <p:sp>
        <p:nvSpPr>
          <p:cNvPr id="7" name="frame-57_search_modal"/>
          <p:cNvSpPr/>
          <p:nvPr/>
        </p:nvSpPr>
        <p:spPr>
          <a:xfrm>
            <a:off x="457200" y="1444752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444752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522476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522476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522476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485900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485900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/?openSearch=1</a:t>
            </a:r>
            <a:endParaRPr lang="en-US" sz="650" dirty="0"/>
          </a:p>
        </p:txBody>
      </p:sp>
      <p:pic>
        <p:nvPicPr>
          <p:cNvPr id="14" name="Image 0" descr="/?openSearch=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2496"/>
            <a:ext cx="5486400" cy="34290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527608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검색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성별·국적 등 필터로 아티스트를 찾고 바로 가입합니다. 커뮤니티마다 닉네임·소개·프로필 이미지를 따로 설정합니다.</a:t>
            </a:r>
            <a:endParaRPr lang="en-US" sz="1200" dirty="0"/>
          </a:p>
        </p:txBody>
      </p:sp>
      <p:sp>
        <p:nvSpPr>
          <p:cNvPr id="16" name="frame-52_side_menu"/>
          <p:cNvSpPr/>
          <p:nvPr/>
        </p:nvSpPr>
        <p:spPr>
          <a:xfrm>
            <a:off x="6245352" y="1444752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245352" y="1444752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336792" y="1522476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455664" y="1522476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574536" y="1522476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748272" y="1485900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6812280" y="1485900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/community/1101/fan</a:t>
            </a:r>
            <a:endParaRPr lang="en-US" sz="650" dirty="0"/>
          </a:p>
        </p:txBody>
      </p:sp>
      <p:pic>
        <p:nvPicPr>
          <p:cNvPr id="23" name="Image 1" descr="/community/1101/f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682496"/>
            <a:ext cx="5486400" cy="34290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245352" y="527608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 메뉴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가입한 커뮤니티 바로가기, 나의 컬렉션, 공지사항, Shop, 회원정보 및 설정으로 이동합니다.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커뮤니티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탭 — Highlight · Fan · Artist</a:t>
            </a:r>
            <a:endParaRPr lang="en-US" sz="2200" dirty="0"/>
          </a:p>
        </p:txBody>
      </p:sp>
      <p:sp>
        <p:nvSpPr>
          <p:cNvPr id="4" name="role-FAN"/>
          <p:cNvSpPr/>
          <p:nvPr/>
        </p:nvSpPr>
        <p:spPr>
          <a:xfrm>
            <a:off x="11300155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300155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</a:t>
            </a:r>
            <a:endParaRPr lang="en-US" sz="850" dirty="0"/>
          </a:p>
        </p:txBody>
      </p:sp>
      <p:sp>
        <p:nvSpPr>
          <p:cNvPr id="7" name="frame-21b_comm_highlight"/>
          <p:cNvSpPr/>
          <p:nvPr/>
        </p:nvSpPr>
        <p:spPr>
          <a:xfrm>
            <a:off x="457200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/nova</a:t>
            </a:r>
            <a:endParaRPr lang="en-US" sz="650" dirty="0"/>
          </a:p>
        </p:txBody>
      </p:sp>
      <p:pic>
        <p:nvPicPr>
          <p:cNvPr id="14" name="Image 0" descr="/nov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31708"/>
            <a:ext cx="3611880" cy="22574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Highlight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아티스트의 최신 글을 모아 보여주는 첫 화면. 좌측에 가입 상태, 멤버십, 커뮤니티 캘린더.</a:t>
            </a:r>
            <a:endParaRPr lang="en-US" sz="1200" dirty="0"/>
          </a:p>
        </p:txBody>
      </p:sp>
      <p:sp>
        <p:nvSpPr>
          <p:cNvPr id="16" name="frame-22b_comm_fan"/>
          <p:cNvSpPr/>
          <p:nvPr/>
        </p:nvSpPr>
        <p:spPr>
          <a:xfrm>
            <a:off x="4288536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288536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379976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498848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617720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4791456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4855464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/nova/fan</a:t>
            </a:r>
            <a:endParaRPr lang="en-US" sz="650" dirty="0"/>
          </a:p>
        </p:txBody>
      </p:sp>
      <p:pic>
        <p:nvPicPr>
          <p:cNvPr id="23" name="Image 1" descr="/nova/fa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2231708"/>
            <a:ext cx="3611880" cy="225742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288536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 게시판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팬끼리 쓰는 게시판. 포스트/프로젝트 탭, 최신순·인기순 정렬, 좋아요·댓글 수.</a:t>
            </a:r>
            <a:endParaRPr lang="en-US" sz="1200" dirty="0"/>
          </a:p>
        </p:txBody>
      </p:sp>
      <p:sp>
        <p:nvSpPr>
          <p:cNvPr id="25" name="frame-23b_comm_artist"/>
          <p:cNvSpPr/>
          <p:nvPr/>
        </p:nvSpPr>
        <p:spPr>
          <a:xfrm>
            <a:off x="8119872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8119872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8211312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8330184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8449056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8622792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8686800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/nova/artist</a:t>
            </a:r>
            <a:endParaRPr lang="en-US" sz="650" dirty="0"/>
          </a:p>
        </p:txBody>
      </p:sp>
      <p:pic>
        <p:nvPicPr>
          <p:cNvPr id="32" name="Image 2" descr="/nova/artis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2231708"/>
            <a:ext cx="3611880" cy="225742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119872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Artist 게시판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 멤버만 쓸 수 있는 게시판. 인증 배지(✓)로 아티스트 글을 구분합니다.</a:t>
            </a:r>
            <a:endParaRPr lang="en-US" sz="12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커뮤니티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— Notice · 내 프로필 · 팔로우</a:t>
            </a:r>
            <a:endParaRPr lang="en-US" sz="2200" dirty="0"/>
          </a:p>
        </p:txBody>
      </p:sp>
      <p:sp>
        <p:nvSpPr>
          <p:cNvPr id="4" name="role-FAN"/>
          <p:cNvSpPr/>
          <p:nvPr/>
        </p:nvSpPr>
        <p:spPr>
          <a:xfrm>
            <a:off x="11300155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300155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</a:t>
            </a:r>
            <a:endParaRPr lang="en-US" sz="850" dirty="0"/>
          </a:p>
        </p:txBody>
      </p:sp>
      <p:sp>
        <p:nvSpPr>
          <p:cNvPr id="7" name="frame-25b_comm_notice"/>
          <p:cNvSpPr/>
          <p:nvPr/>
        </p:nvSpPr>
        <p:spPr>
          <a:xfrm>
            <a:off x="457200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/nova/notice</a:t>
            </a:r>
            <a:endParaRPr lang="en-US" sz="650" dirty="0"/>
          </a:p>
        </p:txBody>
      </p:sp>
      <p:pic>
        <p:nvPicPr>
          <p:cNvPr id="14" name="Image 0" descr="/nova/not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31708"/>
            <a:ext cx="3611880" cy="22574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Notice 탭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소속사가 포털에서 올린 커뮤니티 공지. 상단 고정·순서는 포털에서 관리합니다.</a:t>
            </a:r>
            <a:endParaRPr lang="en-US" sz="1200" dirty="0"/>
          </a:p>
        </p:txBody>
      </p:sp>
      <p:sp>
        <p:nvSpPr>
          <p:cNvPr id="16" name="frame-29_comm_profile"/>
          <p:cNvSpPr/>
          <p:nvPr/>
        </p:nvSpPr>
        <p:spPr>
          <a:xfrm>
            <a:off x="4288536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288536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379976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498848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617720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4791456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4855464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/community/1101/profile/1315</a:t>
            </a:r>
            <a:endParaRPr lang="en-US" sz="650" dirty="0"/>
          </a:p>
        </p:txBody>
      </p:sp>
      <p:pic>
        <p:nvPicPr>
          <p:cNvPr id="23" name="Image 1" descr="/community/1101/profile/13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2231708"/>
            <a:ext cx="3611880" cy="225742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288536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커뮤니티별 내 프로필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커뮤니티에서 쓴 댓글·포스트, 팔로워·팔로잉, 가입일과 D+일수. 프로필 편집은 커뮤니티마다 따로.</a:t>
            </a:r>
            <a:endParaRPr lang="en-US" sz="1200" dirty="0"/>
          </a:p>
        </p:txBody>
      </p:sp>
      <p:sp>
        <p:nvSpPr>
          <p:cNvPr id="25" name="frame-102_member_profile"/>
          <p:cNvSpPr/>
          <p:nvPr/>
        </p:nvSpPr>
        <p:spPr>
          <a:xfrm>
            <a:off x="8119872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8119872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8211312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8330184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8449056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8622792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8686800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/community/1101/profile/1205</a:t>
            </a:r>
            <a:endParaRPr lang="en-US" sz="650" dirty="0"/>
          </a:p>
        </p:txBody>
      </p:sp>
      <p:pic>
        <p:nvPicPr>
          <p:cNvPr id="32" name="Image 2" descr="/community/1101/profile/120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2231708"/>
            <a:ext cx="3611880" cy="225742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119872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 멤버 프로필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 프로필에도 가입일·디데이를 표시합니다(10/4 추가). 팔로워 10명 달성 시 배지.</a:t>
            </a:r>
            <a:endParaRPr lang="en-US" sz="12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게시글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게시글 작성 — 실제 등록 테스트</a:t>
            </a:r>
            <a:endParaRPr lang="en-US" sz="2200" dirty="0"/>
          </a:p>
        </p:txBody>
      </p:sp>
      <p:sp>
        <p:nvSpPr>
          <p:cNvPr id="4" name="role-FAN"/>
          <p:cNvSpPr/>
          <p:nvPr/>
        </p:nvSpPr>
        <p:spPr>
          <a:xfrm>
            <a:off x="11300155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300155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</a:t>
            </a:r>
            <a:endParaRPr lang="en-US" sz="850" dirty="0"/>
          </a:p>
        </p:txBody>
      </p:sp>
      <p:sp>
        <p:nvSpPr>
          <p:cNvPr id="7" name="frame-60_post_write_filled"/>
          <p:cNvSpPr/>
          <p:nvPr/>
        </p:nvSpPr>
        <p:spPr>
          <a:xfrm>
            <a:off x="457200" y="1280160"/>
            <a:ext cx="5486400" cy="361943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35788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35788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35788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321308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321308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/community/1101/fan</a:t>
            </a:r>
            <a:endParaRPr lang="en-US" sz="650" dirty="0"/>
          </a:p>
        </p:txBody>
      </p:sp>
      <p:pic>
        <p:nvPicPr>
          <p:cNvPr id="14" name="Image 0" descr="/community/1101/f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17904"/>
            <a:ext cx="5486400" cy="3381686"/>
          </a:xfrm>
          <a:prstGeom prst="rect">
            <a:avLst/>
          </a:prstGeom>
        </p:spPr>
      </p:pic>
      <p:sp>
        <p:nvSpPr>
          <p:cNvPr id="15" name="frame-61_post_written"/>
          <p:cNvSpPr/>
          <p:nvPr/>
        </p:nvSpPr>
        <p:spPr>
          <a:xfrm>
            <a:off x="6245352" y="1280160"/>
            <a:ext cx="5486400" cy="361943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245352" y="1280160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336792" y="135788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455664" y="135788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574536" y="135788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748272" y="1321308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6812280" y="1321308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/nova/fan?sort=latest</a:t>
            </a:r>
            <a:endParaRPr lang="en-US" sz="650" dirty="0"/>
          </a:p>
        </p:txBody>
      </p:sp>
      <p:pic>
        <p:nvPicPr>
          <p:cNvPr id="22" name="Image 1" descr="/nova/fan?sort=late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517904"/>
            <a:ext cx="5486400" cy="338168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961888" y="3017520"/>
            <a:ext cx="265176" cy="914"/>
          </a:xfrm>
          <a:prstGeom prst="line">
            <a:avLst/>
          </a:prstGeom>
          <a:noFill/>
          <a:ln w="15875">
            <a:solidFill>
              <a:srgbClr val="A85D6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 txBox="1"/>
          <p:nvPr/>
        </p:nvSpPr>
        <p:spPr>
          <a:xfrm>
            <a:off x="457200" y="49377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에디터로 작성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굵게·목록·인용 등 서식과 이미지·파일 첨부, 1,000자 제한. 해시태그(#NOVA컴백)를 넣으면 총공 이벤트 집계 대상이 됩니다.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245352" y="49377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등록 후 목록 최상단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후 배지 지급·해시태그 집계는 트랜잭션 커밋 뒤 이벤트 리스너가 처리합니다.</a:t>
            </a:r>
            <a:endParaRPr lang="en-US" sz="1200" dirty="0"/>
          </a:p>
        </p:txBody>
      </p:sp>
      <p:sp>
        <p:nvSpPr>
          <p:cNvPr id="26" name="test-result"/>
          <p:cNvSpPr/>
          <p:nvPr/>
        </p:nvSpPr>
        <p:spPr>
          <a:xfrm>
            <a:off x="457200" y="5897880"/>
            <a:ext cx="11274552" cy="384048"/>
          </a:xfrm>
          <a:prstGeom prst="roundRect">
            <a:avLst>
              <a:gd name="adj" fmla="val 19048"/>
            </a:avLst>
          </a:prstGeom>
          <a:solidFill>
            <a:srgbClr val="EEF1E6"/>
          </a:solidFill>
          <a:ln w="9525">
            <a:solidFill>
              <a:srgbClr val="C9D1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 txBox="1"/>
          <p:nvPr/>
        </p:nvSpPr>
        <p:spPr>
          <a:xfrm>
            <a:off x="566928" y="589788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7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테스트  </a:t>
            </a:r>
            <a:r>
              <a:rPr lang="en-US" sz="950" dirty="0">
                <a:solidFill>
                  <a:srgbClr val="4A5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 게시판에 글 등록 성공 → 목록 최상단 노출 확인 (post id 10109)</a:t>
            </a:r>
            <a:endParaRPr lang="en-US" sz="95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게시글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게시글 상세 · 댓글 · 신고</a:t>
            </a:r>
            <a:endParaRPr lang="en-US" sz="2200" dirty="0"/>
          </a:p>
        </p:txBody>
      </p:sp>
      <p:sp>
        <p:nvSpPr>
          <p:cNvPr id="4" name="role-FAN"/>
          <p:cNvSpPr/>
          <p:nvPr/>
        </p:nvSpPr>
        <p:spPr>
          <a:xfrm>
            <a:off x="11300155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300155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</a:t>
            </a:r>
            <a:endParaRPr lang="en-US" sz="850" dirty="0"/>
          </a:p>
        </p:txBody>
      </p:sp>
      <p:sp>
        <p:nvSpPr>
          <p:cNvPr id="7" name="frame-24_post_detail"/>
          <p:cNvSpPr/>
          <p:nvPr/>
        </p:nvSpPr>
        <p:spPr>
          <a:xfrm>
            <a:off x="457200" y="1234440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31216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31216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31216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275588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275588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/community/1101/artist/10018</a:t>
            </a:r>
            <a:endParaRPr lang="en-US" sz="650" dirty="0"/>
          </a:p>
        </p:txBody>
      </p:sp>
      <p:pic>
        <p:nvPicPr>
          <p:cNvPr id="14" name="Image 0" descr="/community/1101/artist/100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72184"/>
            <a:ext cx="5486400" cy="34290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506577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 글 상세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본문·이미지, 좋아요·북마크, 신고, AI 요약 버튼. 오른쪽에 댓글·대댓글과 번역보기·신고 링크.</a:t>
            </a:r>
            <a:endParaRPr lang="en-US" sz="1200" dirty="0"/>
          </a:p>
        </p:txBody>
      </p:sp>
      <p:sp>
        <p:nvSpPr>
          <p:cNvPr id="16" name="frame-63_comment"/>
          <p:cNvSpPr/>
          <p:nvPr/>
        </p:nvSpPr>
        <p:spPr>
          <a:xfrm>
            <a:off x="6245352" y="1234440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245352" y="1234440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336792" y="131216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455664" y="131216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574536" y="131216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748272" y="1275588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6812280" y="1275588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/community/1101/fan/10011</a:t>
            </a:r>
            <a:endParaRPr lang="en-US" sz="650" dirty="0"/>
          </a:p>
        </p:txBody>
      </p:sp>
      <p:pic>
        <p:nvPicPr>
          <p:cNvPr id="23" name="Image 1" descr="/community/1101/fan/100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472184"/>
            <a:ext cx="5486400" cy="34290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245352" y="506577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작성 테스트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댓글(100자)을 등록하면 즉시 목록에 추가되고 댓글 수가 올라갑니다. 본인 댓글은 수정·삭제 가능.</a:t>
            </a:r>
            <a:endParaRPr lang="en-US" sz="1200" dirty="0"/>
          </a:p>
        </p:txBody>
      </p:sp>
      <p:sp>
        <p:nvSpPr>
          <p:cNvPr id="25" name="test-result"/>
          <p:cNvSpPr/>
          <p:nvPr/>
        </p:nvSpPr>
        <p:spPr>
          <a:xfrm>
            <a:off x="457200" y="5961888"/>
            <a:ext cx="11274552" cy="384048"/>
          </a:xfrm>
          <a:prstGeom prst="roundRect">
            <a:avLst>
              <a:gd name="adj" fmla="val 19048"/>
            </a:avLst>
          </a:prstGeom>
          <a:solidFill>
            <a:srgbClr val="EEF1E6"/>
          </a:solidFill>
          <a:ln w="9525">
            <a:solidFill>
              <a:srgbClr val="C9D1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566928" y="59618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7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테스트  </a:t>
            </a:r>
            <a:r>
              <a:rPr lang="en-US" sz="950" dirty="0">
                <a:solidFill>
                  <a:srgbClr val="4A5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등록 → 화면 반영 + DB(comment id 20331) 저장 확인</a:t>
            </a:r>
            <a:endParaRPr lang="en-US" sz="95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AI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요약 · AI 번역 (Google Gemini)</a:t>
            </a:r>
            <a:endParaRPr lang="en-US" sz="2200" dirty="0"/>
          </a:p>
        </p:txBody>
      </p:sp>
      <p:sp>
        <p:nvSpPr>
          <p:cNvPr id="4" name="role-FAN"/>
          <p:cNvSpPr/>
          <p:nvPr/>
        </p:nvSpPr>
        <p:spPr>
          <a:xfrm>
            <a:off x="11300155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300155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</a:t>
            </a:r>
            <a:endParaRPr lang="en-US" sz="850" dirty="0"/>
          </a:p>
        </p:txBody>
      </p:sp>
      <p:sp>
        <p:nvSpPr>
          <p:cNvPr id="7" name="frame-62_ai_summary"/>
          <p:cNvSpPr/>
          <p:nvPr/>
        </p:nvSpPr>
        <p:spPr>
          <a:xfrm>
            <a:off x="457200" y="1234440"/>
            <a:ext cx="5486400" cy="361943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31216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31216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31216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275588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275588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/community/1101/fan/10011</a:t>
            </a:r>
            <a:endParaRPr lang="en-US" sz="650" dirty="0"/>
          </a:p>
        </p:txBody>
      </p:sp>
      <p:pic>
        <p:nvPicPr>
          <p:cNvPr id="14" name="Image 0" descr="/community/1101/fan/100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72184"/>
            <a:ext cx="5486400" cy="338168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501846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요약보기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게시글을 사용자의 기본 언어로 2~3문장 요약합니다. 실제 결과: "인트로에서 멤버 이름을 순서대로 외치고 후렴에서 박수를 두 번…"</a:t>
            </a:r>
            <a:endParaRPr lang="en-US" sz="1200" dirty="0"/>
          </a:p>
        </p:txBody>
      </p:sp>
      <p:sp>
        <p:nvSpPr>
          <p:cNvPr id="16" name="frame-65_translate_ja"/>
          <p:cNvSpPr/>
          <p:nvPr/>
        </p:nvSpPr>
        <p:spPr>
          <a:xfrm>
            <a:off x="6245352" y="1234440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245352" y="1234440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336792" y="131216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455664" y="131216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574536" y="131216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748272" y="1275588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6812280" y="1275588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/community/1101/fan/10011 (日本語)</a:t>
            </a:r>
            <a:endParaRPr lang="en-US" sz="650" dirty="0"/>
          </a:p>
        </p:txBody>
      </p:sp>
      <p:pic>
        <p:nvPicPr>
          <p:cNvPr id="23" name="Image 1" descr="/community/1101/fan/10011 (日本語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472184"/>
            <a:ext cx="5486400" cy="34290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245352" y="506577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번역보기 (일본어 사용자)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언어를 日本語로 바꾼 뒤 번역보기를 누르면 본문·댓글이 일본어로 번역되고, 원문 보기로 되돌릴 수 있습니다.</a:t>
            </a:r>
            <a:endParaRPr lang="en-US" sz="1200" dirty="0"/>
          </a:p>
        </p:txBody>
      </p:sp>
      <p:sp>
        <p:nvSpPr>
          <p:cNvPr id="25" name="test-result"/>
          <p:cNvSpPr/>
          <p:nvPr/>
        </p:nvSpPr>
        <p:spPr>
          <a:xfrm>
            <a:off x="457200" y="5961888"/>
            <a:ext cx="11274552" cy="384048"/>
          </a:xfrm>
          <a:prstGeom prst="roundRect">
            <a:avLst>
              <a:gd name="adj" fmla="val 19048"/>
            </a:avLst>
          </a:prstGeom>
          <a:solidFill>
            <a:srgbClr val="EEF1E6"/>
          </a:solidFill>
          <a:ln w="9525">
            <a:solidFill>
              <a:srgbClr val="C9D1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566928" y="59618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7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테스트  </a:t>
            </a:r>
            <a:r>
              <a:rPr lang="en-US" sz="950" dirty="0">
                <a:solidFill>
                  <a:srgbClr val="4A5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요약 응답 표시 · 언어 JA 전환 후 본문 일본어 번역 성공 (커뮤니티 가입자만 사용 가능)</a:t>
            </a:r>
            <a:endParaRPr lang="en-US" sz="95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미디어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미디어 · 멤버십 전용 콘텐츠</a:t>
            </a:r>
            <a:endParaRPr lang="en-US" sz="2200" dirty="0"/>
          </a:p>
        </p:txBody>
      </p:sp>
      <p:sp>
        <p:nvSpPr>
          <p:cNvPr id="4" name="role-FAN"/>
          <p:cNvSpPr/>
          <p:nvPr/>
        </p:nvSpPr>
        <p:spPr>
          <a:xfrm>
            <a:off x="11300155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300155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</a:t>
            </a:r>
            <a:endParaRPr lang="en-US" sz="850" dirty="0"/>
          </a:p>
        </p:txBody>
      </p:sp>
      <p:sp>
        <p:nvSpPr>
          <p:cNvPr id="7" name="frame-26b_comm_media"/>
          <p:cNvSpPr/>
          <p:nvPr/>
        </p:nvSpPr>
        <p:spPr>
          <a:xfrm>
            <a:off x="457200" y="1444752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444752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522476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522476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522476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485900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485900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/nova/media</a:t>
            </a:r>
            <a:endParaRPr lang="en-US" sz="650" dirty="0"/>
          </a:p>
        </p:txBody>
      </p:sp>
      <p:pic>
        <p:nvPicPr>
          <p:cNvPr id="14" name="Image 0" descr="/nova/med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2496"/>
            <a:ext cx="5486400" cy="34290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527608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 탭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아티스트가 올린 사진·영상. 전체/멤버십/인기 필터. 라이브 다시보기도 여기에 저장됩니다.</a:t>
            </a:r>
            <a:endParaRPr lang="en-US" sz="1200" dirty="0"/>
          </a:p>
        </p:txBody>
      </p:sp>
      <p:sp>
        <p:nvSpPr>
          <p:cNvPr id="16" name="frame-27_media_detail"/>
          <p:cNvSpPr/>
          <p:nvPr/>
        </p:nvSpPr>
        <p:spPr>
          <a:xfrm>
            <a:off x="6245352" y="1444752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245352" y="1444752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336792" y="1522476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455664" y="1522476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574536" y="1522476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748272" y="1485900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6812280" y="1485900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/community/1101/media/3004</a:t>
            </a:r>
            <a:endParaRPr lang="en-US" sz="650" dirty="0"/>
          </a:p>
        </p:txBody>
      </p:sp>
      <p:pic>
        <p:nvPicPr>
          <p:cNvPr id="23" name="Image 1" descr="/community/1101/media/30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682496"/>
            <a:ext cx="5486400" cy="34290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245352" y="527608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[MEMBERSHIP] 전용 미디어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멤버십 전용으로 공개한 미디어는 활성 멤버십이 있어야 열립니다. 삭제된 파일은 매일 04:00 정리.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멤버십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멤버십 — 1년 유료 구독</a:t>
            </a:r>
            <a:endParaRPr lang="en-US" sz="2200" dirty="0"/>
          </a:p>
        </p:txBody>
      </p:sp>
      <p:sp>
        <p:nvSpPr>
          <p:cNvPr id="4" name="role-FAN"/>
          <p:cNvSpPr/>
          <p:nvPr/>
        </p:nvSpPr>
        <p:spPr>
          <a:xfrm>
            <a:off x="11300155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300155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</a:t>
            </a:r>
            <a:endParaRPr lang="en-US" sz="850" dirty="0"/>
          </a:p>
        </p:txBody>
      </p:sp>
      <p:sp>
        <p:nvSpPr>
          <p:cNvPr id="7" name="frame-53_membership_modal"/>
          <p:cNvSpPr/>
          <p:nvPr/>
        </p:nvSpPr>
        <p:spPr>
          <a:xfrm>
            <a:off x="457200" y="1444752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444752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522476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522476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522476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485900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485900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/community/1101/fan</a:t>
            </a:r>
            <a:endParaRPr lang="en-US" sz="650" dirty="0"/>
          </a:p>
        </p:txBody>
      </p:sp>
      <p:pic>
        <p:nvPicPr>
          <p:cNvPr id="14" name="Image 0" descr="/community/1101/f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2496"/>
            <a:ext cx="5486400" cy="34290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527608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멤버십 상세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멤버십 번호(WP-1101-26), 기간(2026.07.05 ~ 2027.07.05 KST), 해지 버튼. 만료 후 7일 안에 재가입하면 연속 가입으로 기록.</a:t>
            </a:r>
            <a:endParaRPr lang="en-US" sz="1200" dirty="0"/>
          </a:p>
        </p:txBody>
      </p:sp>
      <p:sp>
        <p:nvSpPr>
          <p:cNvPr id="16" name="frame-43_membership_checkout"/>
          <p:cNvSpPr/>
          <p:nvPr/>
        </p:nvSpPr>
        <p:spPr>
          <a:xfrm>
            <a:off x="6245352" y="1444752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245352" y="1444752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336792" y="1522476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455664" y="1522476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574536" y="1522476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748272" y="1485900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6812280" y="1485900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/payments/membership/1102/checkout</a:t>
            </a:r>
            <a:endParaRPr lang="en-US" sz="650" dirty="0"/>
          </a:p>
        </p:txBody>
      </p:sp>
      <p:pic>
        <p:nvPicPr>
          <p:cNvPr id="23" name="Image 1" descr="/payments/membership/1102/checko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682496"/>
            <a:ext cx="5486400" cy="34290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245352" y="527608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멤버십 결제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30,000원 / 1년. Toss 가상계좌로 결제하고, 입금이 확정되면 MembershipService.join이 만료일을 1년 뒤로 설정합니다.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DM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 — 팬이 아티스트에게 보내기</a:t>
            </a:r>
            <a:endParaRPr lang="en-US" sz="2200" dirty="0"/>
          </a:p>
        </p:txBody>
      </p:sp>
      <p:sp>
        <p:nvSpPr>
          <p:cNvPr id="4" name="role-FAN"/>
          <p:cNvSpPr/>
          <p:nvPr/>
        </p:nvSpPr>
        <p:spPr>
          <a:xfrm>
            <a:off x="11300155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300155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</a:t>
            </a:r>
            <a:endParaRPr lang="en-US" sz="850" dirty="0"/>
          </a:p>
        </p:txBody>
      </p:sp>
      <p:sp>
        <p:nvSpPr>
          <p:cNvPr id="7" name="frame-50_dm_widget"/>
          <p:cNvSpPr/>
          <p:nvPr/>
        </p:nvSpPr>
        <p:spPr>
          <a:xfrm>
            <a:off x="457200" y="1234440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31216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31216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31216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275588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275588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어느 화면에서나 우측 하단 ✈</a:t>
            </a:r>
            <a:endParaRPr lang="en-US" sz="650" dirty="0"/>
          </a:p>
        </p:txBody>
      </p:sp>
      <p:pic>
        <p:nvPicPr>
          <p:cNvPr id="14" name="Image 0" descr="어느 화면에서나 우측 하단 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72184"/>
            <a:ext cx="5486400" cy="34290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506577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 목록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화면에서 열리는 DM 위젯. 아티스트별 대화방과 최근 메시지를 보여줍니다.</a:t>
            </a:r>
            <a:endParaRPr lang="en-US" sz="1200" dirty="0"/>
          </a:p>
        </p:txBody>
      </p:sp>
      <p:sp>
        <p:nvSpPr>
          <p:cNvPr id="16" name="frame-69_dm_sent"/>
          <p:cNvSpPr/>
          <p:nvPr/>
        </p:nvSpPr>
        <p:spPr>
          <a:xfrm>
            <a:off x="6245352" y="1234440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245352" y="1234440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336792" y="131216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455664" y="131216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574536" y="131216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748272" y="1275588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6812280" y="1275588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STOMP /app/chat.send</a:t>
            </a:r>
            <a:endParaRPr lang="en-US" sz="650" dirty="0"/>
          </a:p>
        </p:txBody>
      </p:sp>
      <p:pic>
        <p:nvPicPr>
          <p:cNvPr id="23" name="Image 1" descr="STOMP /app/chat.sen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472184"/>
            <a:ext cx="5486400" cy="34290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245352" y="506577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전송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멤버십 확인 → 금칙어 필터 → 하루 10건 한도 차감 → 저장 → /topic/chat.{artist}.fan.{fan} 으로 실시간 전달.</a:t>
            </a:r>
            <a:endParaRPr lang="en-US" sz="1200" dirty="0"/>
          </a:p>
        </p:txBody>
      </p:sp>
      <p:sp>
        <p:nvSpPr>
          <p:cNvPr id="25" name="test-result"/>
          <p:cNvSpPr/>
          <p:nvPr/>
        </p:nvSpPr>
        <p:spPr>
          <a:xfrm>
            <a:off x="457200" y="5961888"/>
            <a:ext cx="11274552" cy="384048"/>
          </a:xfrm>
          <a:prstGeom prst="roundRect">
            <a:avLst>
              <a:gd name="adj" fmla="val 19048"/>
            </a:avLst>
          </a:prstGeom>
          <a:solidFill>
            <a:srgbClr val="EEF1E6"/>
          </a:solidFill>
          <a:ln w="9525">
            <a:solidFill>
              <a:srgbClr val="C9D1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566928" y="59618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7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테스트  </a:t>
            </a:r>
            <a:r>
              <a:rPr lang="en-US" sz="950" dirty="0">
                <a:solidFill>
                  <a:srgbClr val="4A5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NOVA 리안에게 전송 → "오늘 남은 메시지 10회 → 9회" 차감, 아티스트 화면에서 수신 확인</a:t>
            </a:r>
            <a:endParaRPr lang="en-US" sz="95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DM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 — 아티스트 화면과 AI 가상 팬</a:t>
            </a:r>
            <a:endParaRPr lang="en-US" sz="2200" dirty="0"/>
          </a:p>
        </p:txBody>
      </p:sp>
      <p:sp>
        <p:nvSpPr>
          <p:cNvPr id="4" name="role-MEMBER"/>
          <p:cNvSpPr/>
          <p:nvPr/>
        </p:nvSpPr>
        <p:spPr>
          <a:xfrm>
            <a:off x="10522915" y="384048"/>
            <a:ext cx="1211580" cy="274320"/>
          </a:xfrm>
          <a:prstGeom prst="roundRect">
            <a:avLst>
              <a:gd name="adj" fmla="val 50000"/>
            </a:avLst>
          </a:prstGeom>
          <a:solidFill>
            <a:srgbClr val="8C4A54"/>
          </a:solidFill>
          <a:ln w="12700">
            <a:solidFill>
              <a:srgbClr val="8C4A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522915" y="384048"/>
            <a:ext cx="121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ARTIST_MEMBER</a:t>
            </a:r>
            <a:endParaRPr lang="en-US" sz="850" dirty="0"/>
          </a:p>
        </p:txBody>
      </p:sp>
      <p:sp>
        <p:nvSpPr>
          <p:cNvPr id="7" name="frame-106_member_dm_ai_reply"/>
          <p:cNvSpPr/>
          <p:nvPr/>
        </p:nvSpPr>
        <p:spPr>
          <a:xfrm>
            <a:off x="457200" y="1280160"/>
            <a:ext cx="7315200" cy="4809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73152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35788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35788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35788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321308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321308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/community/1101/fan  (NOVA 리안 로그인)</a:t>
            </a:r>
            <a:endParaRPr lang="en-US" sz="650" dirty="0"/>
          </a:p>
        </p:txBody>
      </p:sp>
      <p:pic>
        <p:nvPicPr>
          <p:cNvPr id="14" name="Image 0" descr="/community/1101/fan  (NOVA 리안 로그인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17904"/>
            <a:ext cx="7315200" cy="45720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138160" y="1325880"/>
            <a:ext cx="35935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 측 DM 피드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팬이 보낸 메시지는 visibleToArtist = 30% 판정 후 /topic/chat.{artist}.artistFeed 로 전달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팬 계정으로 보낸 "리안님 오늘 무대 최고였어요!"가 아티스트 화면에 도착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아티스트가 전체 팬에게 메시지를 보내면 AiFanChatService가 비동기로 AI 팬 5명의 답장 생성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금칙어는 관리자가 /chat/admin/keywords 에서 관리</a:t>
            </a:r>
            <a:endParaRPr lang="en-US" sz="1300" dirty="0"/>
          </a:p>
        </p:txBody>
      </p:sp>
      <p:sp>
        <p:nvSpPr>
          <p:cNvPr id="16" name="test-result"/>
          <p:cNvSpPr/>
          <p:nvPr/>
        </p:nvSpPr>
        <p:spPr>
          <a:xfrm>
            <a:off x="8138160" y="4754880"/>
            <a:ext cx="3593592" cy="566928"/>
          </a:xfrm>
          <a:prstGeom prst="roundRect">
            <a:avLst>
              <a:gd name="adj" fmla="val 12903"/>
            </a:avLst>
          </a:prstGeom>
          <a:solidFill>
            <a:srgbClr val="EEF1E6"/>
          </a:solidFill>
          <a:ln w="9525">
            <a:solidFill>
              <a:srgbClr val="C9D1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8247888" y="4754880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7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테스트  </a:t>
            </a:r>
            <a:r>
              <a:rPr lang="en-US" sz="950" dirty="0">
                <a:solidFill>
                  <a:srgbClr val="4A5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팬 5명(별빛민아·하율짱·달콤해린·우주준·햇살유나) 답장 생성 확인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DM  NEW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 — 안 읽은 메시지 개수 실시간 표시</a:t>
            </a:r>
            <a:endParaRPr lang="en-US" sz="2200" dirty="0"/>
          </a:p>
        </p:txBody>
      </p:sp>
      <p:sp>
        <p:nvSpPr>
          <p:cNvPr id="4" name="role-FAN"/>
          <p:cNvSpPr/>
          <p:nvPr/>
        </p:nvSpPr>
        <p:spPr>
          <a:xfrm>
            <a:off x="11300155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300155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</a:t>
            </a:r>
            <a:endParaRPr lang="en-US" sz="850" dirty="0"/>
          </a:p>
        </p:txBody>
      </p:sp>
      <p:sp>
        <p:nvSpPr>
          <p:cNvPr id="7" name="frame-200_dm_badge"/>
          <p:cNvSpPr/>
          <p:nvPr/>
        </p:nvSpPr>
        <p:spPr>
          <a:xfrm>
            <a:off x="457200" y="1280160"/>
            <a:ext cx="3657600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36576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35788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35788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35788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321308"/>
            <a:ext cx="301752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32130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(리안이 DM 3통 보낸 직후)</a:t>
            </a:r>
            <a:endParaRPr lang="en-US" sz="650" dirty="0"/>
          </a:p>
        </p:txBody>
      </p:sp>
      <p:pic>
        <p:nvPicPr>
          <p:cNvPr id="14" name="Image 0" descr="/ (리안이 DM 3통 보낸 직후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17904"/>
            <a:ext cx="3657600" cy="2286000"/>
          </a:xfrm>
          <a:prstGeom prst="rect">
            <a:avLst/>
          </a:prstGeom>
        </p:spPr>
      </p:pic>
      <p:sp>
        <p:nvSpPr>
          <p:cNvPr id="15" name="frame-201_dm_unread_list"/>
          <p:cNvSpPr/>
          <p:nvPr/>
        </p:nvSpPr>
        <p:spPr>
          <a:xfrm>
            <a:off x="4270248" y="1280160"/>
            <a:ext cx="3657600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4270248" y="1280160"/>
            <a:ext cx="36576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361688" y="135788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480560" y="135788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599432" y="135788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773168" y="1321308"/>
            <a:ext cx="301752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4837176" y="132130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목록</a:t>
            </a:r>
            <a:endParaRPr lang="en-US" sz="650" dirty="0"/>
          </a:p>
        </p:txBody>
      </p:sp>
      <p:pic>
        <p:nvPicPr>
          <p:cNvPr id="22" name="Image 1" descr="DM 목록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517904"/>
            <a:ext cx="3657600" cy="2286000"/>
          </a:xfrm>
          <a:prstGeom prst="rect">
            <a:avLst/>
          </a:prstGeom>
        </p:spPr>
      </p:pic>
      <p:sp>
        <p:nvSpPr>
          <p:cNvPr id="23" name="frame-202_dm_read"/>
          <p:cNvSpPr/>
          <p:nvPr/>
        </p:nvSpPr>
        <p:spPr>
          <a:xfrm>
            <a:off x="8074152" y="1280160"/>
            <a:ext cx="3657600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8074152" y="1280160"/>
            <a:ext cx="36576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8165592" y="135788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8284464" y="135788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8403336" y="135788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8577072" y="1321308"/>
            <a:ext cx="301752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 txBox="1"/>
          <p:nvPr/>
        </p:nvSpPr>
        <p:spPr>
          <a:xfrm>
            <a:off x="8641080" y="132130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 열기 → 읽음 처리</a:t>
            </a:r>
            <a:endParaRPr lang="en-US" sz="650" dirty="0"/>
          </a:p>
        </p:txBody>
      </p:sp>
      <p:pic>
        <p:nvPicPr>
          <p:cNvPr id="30" name="Image 2" descr="방 열기 → 읽음 처리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1517904"/>
            <a:ext cx="3657600" cy="22860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457200" y="3840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비행기 버튼 위 숫자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아티스트(방 주인)가 보낸 메시지만 셈. AI 가상 팬 답장·내 메시지는 제외. 새로고침해도 유지.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4270248" y="3840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방별 안 읽은 개수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 목록에서 어느 아티스트에게 몇 통 왔는지 빨간 숫자로 표시.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8074152" y="3840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방을 열면 사라짐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방의 읽은 시각을 갱신. 방을 보고 있는 중에 온 메시지는 바로 읽음 처리.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57200" y="4800600"/>
            <a:ext cx="33832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/>
          <p:cNvSpPr txBox="1"/>
          <p:nvPr/>
        </p:nvSpPr>
        <p:spPr>
          <a:xfrm>
            <a:off x="457200" y="4800600"/>
            <a:ext cx="33832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457200" y="480060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/chat/unread-source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멤버십이 살아 있는 방의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 주인 메시지 시각(7일)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3858768" y="5157216"/>
            <a:ext cx="393192" cy="914"/>
          </a:xfrm>
          <a:prstGeom prst="line">
            <a:avLst/>
          </a:prstGeom>
          <a:noFill/>
          <a:ln w="15875">
            <a:solidFill>
              <a:srgbClr val="A85D6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2"/>
          <p:cNvSpPr/>
          <p:nvPr/>
        </p:nvSpPr>
        <p:spPr>
          <a:xfrm>
            <a:off x="4270248" y="4800600"/>
            <a:ext cx="3383280" cy="713232"/>
          </a:xfrm>
          <a:prstGeom prst="roundRect">
            <a:avLst>
              <a:gd name="adj" fmla="val 7692"/>
            </a:avLst>
          </a:prstGeom>
          <a:solidFill>
            <a:srgbClr val="FBEEF1"/>
          </a:solidFill>
          <a:ln w="9525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3"/>
          <p:cNvSpPr txBox="1"/>
          <p:nvPr/>
        </p:nvSpPr>
        <p:spPr>
          <a:xfrm>
            <a:off x="4270248" y="4800600"/>
            <a:ext cx="33832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4270248" y="480060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STOMP 구독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/topic/chat.{방} (방송)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/topic/chat.{방}.fan.{나}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7671816" y="5157216"/>
            <a:ext cx="393192" cy="914"/>
          </a:xfrm>
          <a:prstGeom prst="line">
            <a:avLst/>
          </a:prstGeom>
          <a:noFill/>
          <a:ln w="15875">
            <a:solidFill>
              <a:srgbClr val="A85D6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6"/>
          <p:cNvSpPr/>
          <p:nvPr/>
        </p:nvSpPr>
        <p:spPr>
          <a:xfrm>
            <a:off x="8083296" y="4800600"/>
            <a:ext cx="33832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7"/>
          <p:cNvSpPr txBox="1"/>
          <p:nvPr/>
        </p:nvSpPr>
        <p:spPr>
          <a:xfrm>
            <a:off x="8083296" y="4800600"/>
            <a:ext cx="338328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8083296" y="480060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localStorage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방마다 마지막으로 읽은 시각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(DB 스키마 변경 없음)</a:t>
            </a:r>
            <a:endParaRPr lang="en-US" sz="1000" dirty="0"/>
          </a:p>
        </p:txBody>
      </p:sp>
      <p:sp>
        <p:nvSpPr>
          <p:cNvPr id="45" name="test-result"/>
          <p:cNvSpPr/>
          <p:nvPr/>
        </p:nvSpPr>
        <p:spPr>
          <a:xfrm>
            <a:off x="457200" y="5760720"/>
            <a:ext cx="11274552" cy="384048"/>
          </a:xfrm>
          <a:prstGeom prst="roundRect">
            <a:avLst>
              <a:gd name="adj" fmla="val 19048"/>
            </a:avLst>
          </a:prstGeom>
          <a:solidFill>
            <a:srgbClr val="EEF1E6"/>
          </a:solidFill>
          <a:ln w="9525">
            <a:solidFill>
              <a:srgbClr val="C9D1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0"/>
          <p:cNvSpPr txBox="1"/>
          <p:nvPr/>
        </p:nvSpPr>
        <p:spPr>
          <a:xfrm>
            <a:off x="566928" y="576072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7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테스트  </a:t>
            </a:r>
            <a:r>
              <a:rPr lang="en-US" sz="950" dirty="0">
                <a:solidFill>
                  <a:srgbClr val="4A5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리안 DM 3통 → 팬 화면 배지 3 → 다른 페이지 이동 후에도 3 유지 → 방 열기 → 배지 사라짐</a:t>
            </a:r>
            <a:endParaRPr lang="en-US" sz="95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DM  NEW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 금칙어 4,855개 적용</a:t>
            </a:r>
            <a:endParaRPr lang="en-US" sz="2200" dirty="0"/>
          </a:p>
        </p:txBody>
      </p:sp>
      <p:sp>
        <p:nvSpPr>
          <p:cNvPr id="4" name="role-ADMIN"/>
          <p:cNvSpPr/>
          <p:nvPr/>
        </p:nvSpPr>
        <p:spPr>
          <a:xfrm>
            <a:off x="11144707" y="384048"/>
            <a:ext cx="589788" cy="274320"/>
          </a:xfrm>
          <a:prstGeom prst="roundRect">
            <a:avLst>
              <a:gd name="adj" fmla="val 50000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44707" y="384048"/>
            <a:ext cx="589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850" dirty="0"/>
          </a:p>
        </p:txBody>
      </p:sp>
      <p:sp>
        <p:nvSpPr>
          <p:cNvPr id="6" name="role-FAN"/>
          <p:cNvSpPr/>
          <p:nvPr/>
        </p:nvSpPr>
        <p:spPr>
          <a:xfrm>
            <a:off x="10637215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0637215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</a:t>
            </a:r>
            <a:endParaRPr lang="en-US" sz="850" dirty="0"/>
          </a:p>
        </p:txBody>
      </p:sp>
      <p:sp>
        <p:nvSpPr>
          <p:cNvPr id="9" name="frame-203_dm_banned"/>
          <p:cNvSpPr/>
          <p:nvPr/>
        </p:nvSpPr>
        <p:spPr>
          <a:xfrm>
            <a:off x="457200" y="1234440"/>
            <a:ext cx="3657600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7200" y="1234440"/>
            <a:ext cx="36576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48640" y="131216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67512" y="131216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86384" y="131216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60120" y="1275588"/>
            <a:ext cx="301752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024128" y="127558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전송 시 금칙어 차단</a:t>
            </a:r>
            <a:endParaRPr lang="en-US" sz="650" dirty="0"/>
          </a:p>
        </p:txBody>
      </p:sp>
      <p:pic>
        <p:nvPicPr>
          <p:cNvPr id="16" name="Image 0" descr="DM 전송 시 금칙어 차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72184"/>
            <a:ext cx="3657600" cy="2286000"/>
          </a:xfrm>
          <a:prstGeom prst="rect">
            <a:avLst/>
          </a:prstGeom>
        </p:spPr>
      </p:pic>
      <p:sp>
        <p:nvSpPr>
          <p:cNvPr id="17" name="frame-206_admin_keywords"/>
          <p:cNvSpPr/>
          <p:nvPr/>
        </p:nvSpPr>
        <p:spPr>
          <a:xfrm>
            <a:off x="457200" y="3840480"/>
            <a:ext cx="3657600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57200" y="3840480"/>
            <a:ext cx="36576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548640" y="391820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67512" y="391820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786384" y="391820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960120" y="3881628"/>
            <a:ext cx="301752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9"/>
          <p:cNvSpPr txBox="1"/>
          <p:nvPr/>
        </p:nvSpPr>
        <p:spPr>
          <a:xfrm>
            <a:off x="1024128" y="388162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/chat/admin/keywords (4,855개)</a:t>
            </a:r>
            <a:endParaRPr lang="en-US" sz="650" dirty="0"/>
          </a:p>
        </p:txBody>
      </p:sp>
      <p:pic>
        <p:nvPicPr>
          <p:cNvPr id="24" name="Image 1" descr="/chat/admin/keywords (4,855개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78224"/>
            <a:ext cx="3657600" cy="22860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572000" y="132588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4572000" y="1417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6,701</a:t>
            </a:r>
            <a:endParaRPr lang="en-US" sz="2200" dirty="0"/>
          </a:p>
        </p:txBody>
      </p:sp>
      <p:sp>
        <p:nvSpPr>
          <p:cNvPr id="27" name="Text 22"/>
          <p:cNvSpPr txBox="1"/>
          <p:nvPr/>
        </p:nvSpPr>
        <p:spPr>
          <a:xfrm>
            <a:off x="457200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(중복 제거)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995160" y="132588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 txBox="1"/>
          <p:nvPr/>
        </p:nvSpPr>
        <p:spPr>
          <a:xfrm>
            <a:off x="6995160" y="1417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4,855</a:t>
            </a:r>
            <a:endParaRPr lang="en-US" sz="2200" dirty="0"/>
          </a:p>
        </p:txBody>
      </p:sp>
      <p:sp>
        <p:nvSpPr>
          <p:cNvPr id="30" name="Text 25"/>
          <p:cNvSpPr txBox="1"/>
          <p:nvPr/>
        </p:nvSpPr>
        <p:spPr>
          <a:xfrm>
            <a:off x="699516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등록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9418320" y="132588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 txBox="1"/>
          <p:nvPr/>
        </p:nvSpPr>
        <p:spPr>
          <a:xfrm>
            <a:off x="9418320" y="1417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352KB</a:t>
            </a:r>
            <a:endParaRPr lang="en-US" sz="2200" dirty="0"/>
          </a:p>
        </p:txBody>
      </p:sp>
      <p:sp>
        <p:nvSpPr>
          <p:cNvPr id="33" name="Text 28"/>
          <p:cNvSpPr txBox="1"/>
          <p:nvPr/>
        </p:nvSpPr>
        <p:spPr>
          <a:xfrm>
            <a:off x="941832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용량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4572000" y="2606040"/>
            <a:ext cx="7159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오탐을 막으려고 뺀 단어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1글자 93개 — "년"이 있으면 "2026년"이 들어간 DM 이 전부 막힘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한자 · 일본어 1,514개 — 대부분 중국 게임 정치 검열어, 日·会 같은 글자가 일본어 DM 을 막음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영문 3글자 이하 — ass → class, SM → SM엔터 처럼 부분 일치 오탐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게임사 · 운영 용어 · 일상어 — 피망, 운영자, 삽입곡, 좌지우지, 스뎅, 음모론 …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4069080"/>
          <a:ext cx="7159752" cy="1536192"/>
        </p:xfrm>
        <a:graphic>
          <a:graphicData uri="http://schemas.openxmlformats.org/drawingml/2006/table">
            <a:tbl>
              <a:tblPr/>
              <a:tblGrid>
                <a:gridCol w="4690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문장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2026년 콘서트 꼭 갈게요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 엔터 선배님들 응원해요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삽입곡 너무 좋아요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今日のステージ最高でした！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미친 무대였어요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B779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차단 (원본 단어 유지)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팬 프로젝트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 프로젝트 — 생일카페 · 전광판 모금</a:t>
            </a:r>
            <a:endParaRPr lang="en-US" sz="2200" dirty="0"/>
          </a:p>
        </p:txBody>
      </p:sp>
      <p:sp>
        <p:nvSpPr>
          <p:cNvPr id="4" name="role-FAN"/>
          <p:cNvSpPr/>
          <p:nvPr/>
        </p:nvSpPr>
        <p:spPr>
          <a:xfrm>
            <a:off x="11300155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300155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</a:t>
            </a:r>
            <a:endParaRPr lang="en-US" sz="850" dirty="0"/>
          </a:p>
        </p:txBody>
      </p:sp>
      <p:sp>
        <p:nvSpPr>
          <p:cNvPr id="7" name="frame-30b_comm_project"/>
          <p:cNvSpPr/>
          <p:nvPr/>
        </p:nvSpPr>
        <p:spPr>
          <a:xfrm>
            <a:off x="457200" y="171964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71964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79736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79736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79736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76079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76079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/community/1101/project</a:t>
            </a:r>
            <a:endParaRPr lang="en-US" sz="650" dirty="0"/>
          </a:p>
        </p:txBody>
      </p:sp>
      <p:pic>
        <p:nvPicPr>
          <p:cNvPr id="14" name="Image 0" descr="/community/1101/proj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7388"/>
            <a:ext cx="3611880" cy="22574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436111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목록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모금 중인 프로젝트 카드: 달성률, 목표 금액, D-day, 참여자 수.</a:t>
            </a:r>
            <a:endParaRPr lang="en-US" sz="1200" dirty="0"/>
          </a:p>
        </p:txBody>
      </p:sp>
      <p:sp>
        <p:nvSpPr>
          <p:cNvPr id="16" name="frame-77_project_detail_mid"/>
          <p:cNvSpPr/>
          <p:nvPr/>
        </p:nvSpPr>
        <p:spPr>
          <a:xfrm>
            <a:off x="4288536" y="171964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288536" y="171964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379976" y="179736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498848" y="179736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617720" y="179736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4791456" y="176079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4855464" y="176079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/community/1101/project/501</a:t>
            </a:r>
            <a:endParaRPr lang="en-US" sz="650" dirty="0"/>
          </a:p>
        </p:txBody>
      </p:sp>
      <p:pic>
        <p:nvPicPr>
          <p:cNvPr id="23" name="Image 1" descr="/community/1101/project/5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1957388"/>
            <a:ext cx="3611880" cy="225742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288536" y="436111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상세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1,500,000원, 모금 기간, 소개. 참여 시 가상계좌 결제, 입금 확정 시 PROJECT_JOINED 배지.</a:t>
            </a:r>
            <a:endParaRPr lang="en-US" sz="1200" dirty="0"/>
          </a:p>
        </p:txBody>
      </p:sp>
      <p:sp>
        <p:nvSpPr>
          <p:cNvPr id="25" name="frame-78_project_register"/>
          <p:cNvSpPr/>
          <p:nvPr/>
        </p:nvSpPr>
        <p:spPr>
          <a:xfrm>
            <a:off x="8119872" y="171964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8119872" y="171964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8211312" y="179736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8330184" y="179736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8449056" y="179736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8622792" y="176079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8686800" y="176079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/community/1101/project</a:t>
            </a:r>
            <a:endParaRPr lang="en-US" sz="650" dirty="0"/>
          </a:p>
        </p:txBody>
      </p:sp>
      <p:pic>
        <p:nvPicPr>
          <p:cNvPr id="32" name="Image 2" descr="/community/1101/projec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1957388"/>
            <a:ext cx="3611880" cy="225742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119872" y="436111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자격 검사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배지 5개 + 스페셜 배지 1개가 필요합니다. 부족하면 현재 보유 개수를 안내합니다.</a:t>
            </a:r>
            <a:endParaRPr lang="en-US" sz="1200" dirty="0"/>
          </a:p>
        </p:txBody>
      </p:sp>
      <p:sp>
        <p:nvSpPr>
          <p:cNvPr id="34" name="test-result"/>
          <p:cNvSpPr/>
          <p:nvPr/>
        </p:nvSpPr>
        <p:spPr>
          <a:xfrm>
            <a:off x="457200" y="5385245"/>
            <a:ext cx="11274552" cy="384048"/>
          </a:xfrm>
          <a:prstGeom prst="roundRect">
            <a:avLst>
              <a:gd name="adj" fmla="val 19048"/>
            </a:avLst>
          </a:prstGeom>
          <a:solidFill>
            <a:srgbClr val="EEF1E6"/>
          </a:solidFill>
          <a:ln w="9525">
            <a:solidFill>
              <a:srgbClr val="C9D1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/>
          <p:cNvSpPr txBox="1"/>
          <p:nvPr/>
        </p:nvSpPr>
        <p:spPr>
          <a:xfrm>
            <a:off x="566928" y="5385245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7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테스트  </a:t>
            </a:r>
            <a:r>
              <a:rPr lang="en-US" sz="950" dirty="0">
                <a:solidFill>
                  <a:srgbClr val="4A5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등록하기 클릭 → "현재 일반 3개, 스페셜 1개" 자격 부족 안내 확인</a:t>
            </a:r>
            <a:endParaRPr lang="en-US" sz="95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굿즈샵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굿즈샵 — 상품 · 옵션 · 장바구니</a:t>
            </a:r>
            <a:endParaRPr lang="en-US" sz="2200" dirty="0"/>
          </a:p>
        </p:txBody>
      </p:sp>
      <p:sp>
        <p:nvSpPr>
          <p:cNvPr id="4" name="role-FAN"/>
          <p:cNvSpPr/>
          <p:nvPr/>
        </p:nvSpPr>
        <p:spPr>
          <a:xfrm>
            <a:off x="11300155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300155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</a:t>
            </a:r>
            <a:endParaRPr lang="en-US" sz="850" dirty="0"/>
          </a:p>
        </p:txBody>
      </p:sp>
      <p:sp>
        <p:nvSpPr>
          <p:cNvPr id="7" name="frame-33_shop"/>
          <p:cNvSpPr/>
          <p:nvPr/>
        </p:nvSpPr>
        <p:spPr>
          <a:xfrm>
            <a:off x="457200" y="171964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71964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79736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79736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79736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76079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76079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/shop</a:t>
            </a:r>
            <a:endParaRPr lang="en-US" sz="650" dirty="0"/>
          </a:p>
        </p:txBody>
      </p:sp>
      <p:pic>
        <p:nvPicPr>
          <p:cNvPr id="14" name="Image 0" descr="/sh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7388"/>
            <a:ext cx="3611880" cy="22574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436111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샵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아티스트별 · 카테고리별(MD·디지털·멤버십 전용 등) 필터와 검색.</a:t>
            </a:r>
            <a:endParaRPr lang="en-US" sz="1200" dirty="0"/>
          </a:p>
        </p:txBody>
      </p:sp>
      <p:sp>
        <p:nvSpPr>
          <p:cNvPr id="16" name="frame-70_product_option"/>
          <p:cNvSpPr/>
          <p:nvPr/>
        </p:nvSpPr>
        <p:spPr>
          <a:xfrm>
            <a:off x="4288536" y="171964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288536" y="171964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379976" y="179736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498848" y="179736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617720" y="179736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4791456" y="176079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4855464" y="176079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/shop/products/4002</a:t>
            </a:r>
            <a:endParaRPr lang="en-US" sz="650" dirty="0"/>
          </a:p>
        </p:txBody>
      </p:sp>
      <p:pic>
        <p:nvPicPr>
          <p:cNvPr id="23" name="Image 1" descr="/shop/products/40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1957388"/>
            <a:ext cx="3611880" cy="225742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288536" y="436111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상세 · 옵션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카테고리별 옵션(사이즈 L/M/S/XL)과 옵션별 재고. 장바구니 담기 또는 바로 구매.</a:t>
            </a:r>
            <a:endParaRPr lang="en-US" sz="1200" dirty="0"/>
          </a:p>
        </p:txBody>
      </p:sp>
      <p:sp>
        <p:nvSpPr>
          <p:cNvPr id="25" name="frame-72_cart"/>
          <p:cNvSpPr/>
          <p:nvPr/>
        </p:nvSpPr>
        <p:spPr>
          <a:xfrm>
            <a:off x="8119872" y="171964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8119872" y="171964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8211312" y="179736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8330184" y="179736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8449056" y="179736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8622792" y="176079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8686800" y="176079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/shop/cart</a:t>
            </a:r>
            <a:endParaRPr lang="en-US" sz="650" dirty="0"/>
          </a:p>
        </p:txBody>
      </p:sp>
      <p:pic>
        <p:nvPicPr>
          <p:cNvPr id="32" name="Image 2" descr="/shop/c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1957388"/>
            <a:ext cx="3611880" cy="225742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119872" y="436111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변경·삭제, 배송비 포함 합계, 추천 상품. 멤버십 전용 상품은 활성 멤버십이 있어야 담을 수 있습니다.</a:t>
            </a:r>
            <a:endParaRPr lang="en-US" sz="1200" dirty="0"/>
          </a:p>
        </p:txBody>
      </p:sp>
      <p:sp>
        <p:nvSpPr>
          <p:cNvPr id="34" name="test-result"/>
          <p:cNvSpPr/>
          <p:nvPr/>
        </p:nvSpPr>
        <p:spPr>
          <a:xfrm>
            <a:off x="457200" y="5385245"/>
            <a:ext cx="11274552" cy="384048"/>
          </a:xfrm>
          <a:prstGeom prst="roundRect">
            <a:avLst>
              <a:gd name="adj" fmla="val 19048"/>
            </a:avLst>
          </a:prstGeom>
          <a:solidFill>
            <a:srgbClr val="EEF1E6"/>
          </a:solidFill>
          <a:ln w="9525">
            <a:solidFill>
              <a:srgbClr val="C9D1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/>
          <p:cNvSpPr txBox="1"/>
          <p:nvPr/>
        </p:nvSpPr>
        <p:spPr>
          <a:xfrm>
            <a:off x="566928" y="5385245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7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테스트  </a:t>
            </a:r>
            <a:r>
              <a:rPr lang="en-US" sz="950" dirty="0">
                <a:solidFill>
                  <a:srgbClr val="4A5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NOVA 로고 후드티 M 옵션 담기 → 장바구니 69,000원 + 배송비 = 72,000원 확인</a:t>
            </a:r>
            <a:endParaRPr lang="en-US" sz="95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결제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→ Toss 가상계좌 (테스트 모드)</a:t>
            </a:r>
            <a:endParaRPr lang="en-US" sz="2200" dirty="0"/>
          </a:p>
        </p:txBody>
      </p:sp>
      <p:sp>
        <p:nvSpPr>
          <p:cNvPr id="4" name="role-FAN"/>
          <p:cNvSpPr/>
          <p:nvPr/>
        </p:nvSpPr>
        <p:spPr>
          <a:xfrm>
            <a:off x="11300155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300155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</a:t>
            </a:r>
            <a:endParaRPr lang="en-US" sz="850" dirty="0"/>
          </a:p>
        </p:txBody>
      </p:sp>
      <p:sp>
        <p:nvSpPr>
          <p:cNvPr id="7" name="frame-74_checkout_filled"/>
          <p:cNvSpPr/>
          <p:nvPr/>
        </p:nvSpPr>
        <p:spPr>
          <a:xfrm>
            <a:off x="457200" y="1280160"/>
            <a:ext cx="3657600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36576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35788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35788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35788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321308"/>
            <a:ext cx="301752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32130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/shop/checkout</a:t>
            </a:r>
            <a:endParaRPr lang="en-US" sz="650" dirty="0"/>
          </a:p>
        </p:txBody>
      </p:sp>
      <p:pic>
        <p:nvPicPr>
          <p:cNvPr id="14" name="Image 0" descr="/shop/checkou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17904"/>
            <a:ext cx="3657600" cy="2286000"/>
          </a:xfrm>
          <a:prstGeom prst="rect">
            <a:avLst/>
          </a:prstGeom>
        </p:spPr>
      </p:pic>
      <p:sp>
        <p:nvSpPr>
          <p:cNvPr id="15" name="frame-75_toss_window"/>
          <p:cNvSpPr/>
          <p:nvPr/>
        </p:nvSpPr>
        <p:spPr>
          <a:xfrm>
            <a:off x="4270248" y="1280160"/>
            <a:ext cx="3657600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4270248" y="1280160"/>
            <a:ext cx="36576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361688" y="135788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480560" y="135788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599432" y="135788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773168" y="1321308"/>
            <a:ext cx="301752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4837176" y="132130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Toss Payments 결제창</a:t>
            </a:r>
            <a:endParaRPr lang="en-US" sz="650" dirty="0"/>
          </a:p>
        </p:txBody>
      </p:sp>
      <p:pic>
        <p:nvPicPr>
          <p:cNvPr id="22" name="Image 1" descr="Toss Payments 결제창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517904"/>
            <a:ext cx="3657600" cy="2286000"/>
          </a:xfrm>
          <a:prstGeom prst="rect">
            <a:avLst/>
          </a:prstGeom>
        </p:spPr>
      </p:pic>
      <p:sp>
        <p:nvSpPr>
          <p:cNvPr id="23" name="frame-76_toss_step2"/>
          <p:cNvSpPr/>
          <p:nvPr/>
        </p:nvSpPr>
        <p:spPr>
          <a:xfrm>
            <a:off x="8074152" y="1280160"/>
            <a:ext cx="3657600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8074152" y="1280160"/>
            <a:ext cx="36576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8165592" y="135788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8284464" y="135788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8403336" y="135788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8577072" y="1321308"/>
            <a:ext cx="301752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 txBox="1"/>
          <p:nvPr/>
        </p:nvSpPr>
        <p:spPr>
          <a:xfrm>
            <a:off x="8641080" y="132130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"실제 결제가 안되는 테스트입니다"</a:t>
            </a:r>
            <a:endParaRPr lang="en-US" sz="650" dirty="0"/>
          </a:p>
        </p:txBody>
      </p:sp>
      <p:pic>
        <p:nvPicPr>
          <p:cNvPr id="30" name="Image 2" descr="&quot;실제 결제가 안되는 테스트입니다&quot;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1517904"/>
            <a:ext cx="3657600" cy="22860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457200" y="3840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배송지 입력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받는 분·연락처·우편번호 검색·상세주소·배송 메모.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4270248" y="3840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입금 은행 선택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가상계좌 발급 요청 시 주문은 READY 상태로 생성됩니다.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8074152" y="3840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가상계좌 안내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국민은행 72,000원, 입금 기한 표시. 발급 후 WAITING_FOR_DEPOSIT.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57200" y="4892040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94A0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/>
          <p:cNvSpPr txBox="1"/>
          <p:nvPr/>
        </p:nvSpPr>
        <p:spPr>
          <a:xfrm>
            <a:off x="457200" y="4892040"/>
            <a:ext cx="26517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457200" y="4892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결제창 열기 전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3154680" y="5184648"/>
            <a:ext cx="548640" cy="914"/>
          </a:xfrm>
          <a:prstGeom prst="line">
            <a:avLst/>
          </a:prstGeom>
          <a:noFill/>
          <a:ln w="15875">
            <a:solidFill>
              <a:srgbClr val="5A677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2"/>
          <p:cNvSpPr/>
          <p:nvPr/>
        </p:nvSpPr>
        <p:spPr>
          <a:xfrm>
            <a:off x="3749040" y="4892040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3"/>
          <p:cNvSpPr txBox="1"/>
          <p:nvPr/>
        </p:nvSpPr>
        <p:spPr>
          <a:xfrm>
            <a:off x="3749040" y="4892040"/>
            <a:ext cx="26517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3749040" y="4892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WAITING_FOR_DEPOSIT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계좌 발급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6446520" y="5184648"/>
            <a:ext cx="548640" cy="914"/>
          </a:xfrm>
          <a:prstGeom prst="line">
            <a:avLst/>
          </a:prstGeom>
          <a:noFill/>
          <a:ln w="15875">
            <a:solidFill>
              <a:srgbClr val="5A677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6"/>
          <p:cNvSpPr/>
          <p:nvPr/>
        </p:nvSpPr>
        <p:spPr>
          <a:xfrm>
            <a:off x="7040880" y="4892040"/>
            <a:ext cx="26517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6370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7"/>
          <p:cNvSpPr txBox="1"/>
          <p:nvPr/>
        </p:nvSpPr>
        <p:spPr>
          <a:xfrm>
            <a:off x="7040880" y="4892040"/>
            <a:ext cx="26517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7040880" y="4892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7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PAID</a:t>
            </a:r>
            <a:endParaRPr lang="en-US" sz="10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입금 확정 · 재고 차감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10332720" y="48463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60분 넘게 READY면 스케줄러가 실패 처리 · 굿즈·멤버십·팬 프로젝트가 같은 패턴 공유</a:t>
            </a:r>
            <a:endParaRPr lang="en-US" sz="800" dirty="0"/>
          </a:p>
        </p:txBody>
      </p:sp>
      <p:sp>
        <p:nvSpPr>
          <p:cNvPr id="46" name="test-result"/>
          <p:cNvSpPr/>
          <p:nvPr/>
        </p:nvSpPr>
        <p:spPr>
          <a:xfrm>
            <a:off x="457200" y="5806440"/>
            <a:ext cx="11274552" cy="384048"/>
          </a:xfrm>
          <a:prstGeom prst="roundRect">
            <a:avLst>
              <a:gd name="adj" fmla="val 19048"/>
            </a:avLst>
          </a:prstGeom>
          <a:solidFill>
            <a:srgbClr val="EEF1E6"/>
          </a:solidFill>
          <a:ln w="9525">
            <a:solidFill>
              <a:srgbClr val="C9D1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1"/>
          <p:cNvSpPr txBox="1"/>
          <p:nvPr/>
        </p:nvSpPr>
        <p:spPr>
          <a:xfrm>
            <a:off x="566928" y="580644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7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테스트  </a:t>
            </a:r>
            <a:r>
              <a:rPr lang="en-US" sz="950" dirty="0">
                <a:solidFill>
                  <a:srgbClr val="4A5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→ Toss 테스트 결제창 → 은행 선택까지 확인 (약관 동의·입금 확정 단계는 진행하지 않음)</a:t>
            </a:r>
            <a:endParaRPr lang="en-US" sz="95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배지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나의 컬렉션 — 배지 25종</a:t>
            </a:r>
            <a:endParaRPr lang="en-US" sz="2200" dirty="0"/>
          </a:p>
        </p:txBody>
      </p:sp>
      <p:sp>
        <p:nvSpPr>
          <p:cNvPr id="4" name="role-FAN"/>
          <p:cNvSpPr/>
          <p:nvPr/>
        </p:nvSpPr>
        <p:spPr>
          <a:xfrm>
            <a:off x="11300155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300155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</a:t>
            </a:r>
            <a:endParaRPr lang="en-US" sz="850" dirty="0"/>
          </a:p>
        </p:txBody>
      </p:sp>
      <p:sp>
        <p:nvSpPr>
          <p:cNvPr id="7" name="frame-37_collection"/>
          <p:cNvSpPr/>
          <p:nvPr/>
        </p:nvSpPr>
        <p:spPr>
          <a:xfrm>
            <a:off x="457200" y="1444752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444752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522476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522476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522476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485900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485900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/collection</a:t>
            </a:r>
            <a:endParaRPr lang="en-US" sz="650" dirty="0"/>
          </a:p>
        </p:txBody>
      </p:sp>
      <p:pic>
        <p:nvPicPr>
          <p:cNvPr id="14" name="Image 0" descr="/collec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2496"/>
            <a:ext cx="5486400" cy="34290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527608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커뮤니티별 배지판 · 프로젝트 참여 기록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가입한 커뮤니티마다 모은 배지와 팬 프로젝트 참여 내역(참여 금액, 입금 확인일)을 보여줍니다.</a:t>
            </a:r>
            <a:endParaRPr lang="en-US" sz="1200" dirty="0"/>
          </a:p>
        </p:txBody>
      </p:sp>
      <p:sp>
        <p:nvSpPr>
          <p:cNvPr id="16" name="frame-58_collection_modal"/>
          <p:cNvSpPr/>
          <p:nvPr/>
        </p:nvSpPr>
        <p:spPr>
          <a:xfrm>
            <a:off x="6245352" y="1444752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245352" y="1444752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336792" y="1522476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455664" y="1522476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574536" y="1522476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748272" y="1485900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6812280" y="1485900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/collection</a:t>
            </a:r>
            <a:endParaRPr lang="en-US" sz="650" dirty="0"/>
          </a:p>
        </p:txBody>
      </p:sp>
      <p:pic>
        <p:nvPicPr>
          <p:cNvPr id="23" name="Image 1" descr="/collec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682496"/>
            <a:ext cx="5486400" cy="34290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245352" y="527608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배지 상세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· 스페셜 · 기간형 배지와 달성률. 가입 100/200/300일, 멤버십 n년 등 기간형은 매일 04:10 지급.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이벤트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해시태그 총공 — 참여율 실시간 집계</a:t>
            </a:r>
            <a:endParaRPr lang="en-US" sz="2200" dirty="0"/>
          </a:p>
        </p:txBody>
      </p:sp>
      <p:sp>
        <p:nvSpPr>
          <p:cNvPr id="4" name="role-FAN"/>
          <p:cNvSpPr/>
          <p:nvPr/>
        </p:nvSpPr>
        <p:spPr>
          <a:xfrm>
            <a:off x="11300155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300155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</a:t>
            </a:r>
            <a:endParaRPr lang="en-US" sz="850" dirty="0"/>
          </a:p>
        </p:txBody>
      </p:sp>
      <p:sp>
        <p:nvSpPr>
          <p:cNvPr id="7" name="frame-12_events_hashtag_guest"/>
          <p:cNvSpPr/>
          <p:nvPr/>
        </p:nvSpPr>
        <p:spPr>
          <a:xfrm>
            <a:off x="457200" y="1280160"/>
            <a:ext cx="3657600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36576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35788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35788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35788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321308"/>
            <a:ext cx="301752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32130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/events/hashtag (비회원)</a:t>
            </a:r>
            <a:endParaRPr lang="en-US" sz="650" dirty="0"/>
          </a:p>
        </p:txBody>
      </p:sp>
      <p:pic>
        <p:nvPicPr>
          <p:cNvPr id="14" name="Image 0" descr="/events/hashtag (비회원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17904"/>
            <a:ext cx="3657600" cy="2286000"/>
          </a:xfrm>
          <a:prstGeom prst="rect">
            <a:avLst/>
          </a:prstGeom>
        </p:spPr>
      </p:pic>
      <p:sp>
        <p:nvSpPr>
          <p:cNvPr id="15" name="frame-161_events_after"/>
          <p:cNvSpPr/>
          <p:nvPr/>
        </p:nvSpPr>
        <p:spPr>
          <a:xfrm>
            <a:off x="4270248" y="1280160"/>
            <a:ext cx="3657600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4270248" y="1280160"/>
            <a:ext cx="36576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361688" y="135788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480560" y="135788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599432" y="135788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773168" y="1321308"/>
            <a:ext cx="301752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4837176" y="132130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/events/hashtag (가입 팬)</a:t>
            </a:r>
            <a:endParaRPr lang="en-US" sz="650" dirty="0"/>
          </a:p>
        </p:txBody>
      </p:sp>
      <p:pic>
        <p:nvPicPr>
          <p:cNvPr id="22" name="Image 1" descr="/events/hashtag (가입 팬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517904"/>
            <a:ext cx="3657600" cy="2286000"/>
          </a:xfrm>
          <a:prstGeom prst="rect">
            <a:avLst/>
          </a:prstGeom>
        </p:spPr>
      </p:pic>
      <p:sp>
        <p:nvSpPr>
          <p:cNvPr id="23" name="frame-162_home_event_banner"/>
          <p:cNvSpPr/>
          <p:nvPr/>
        </p:nvSpPr>
        <p:spPr>
          <a:xfrm>
            <a:off x="8074152" y="1280160"/>
            <a:ext cx="3657600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8074152" y="1280160"/>
            <a:ext cx="36576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8165592" y="135788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8284464" y="135788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8403336" y="135788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8577072" y="1321308"/>
            <a:ext cx="301752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 txBox="1"/>
          <p:nvPr/>
        </p:nvSpPr>
        <p:spPr>
          <a:xfrm>
            <a:off x="8641080" y="132130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localhost:9999/</a:t>
            </a:r>
            <a:endParaRPr lang="en-US" sz="650" dirty="0"/>
          </a:p>
        </p:txBody>
      </p:sp>
      <p:pic>
        <p:nvPicPr>
          <p:cNvPr id="30" name="Image 2" descr="localhost:9999/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1517904"/>
            <a:ext cx="3657600" cy="22860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457200" y="3840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보는 순위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 이벤트, 남은 시간 카운트다운(30초마다 갱신), 팀별 참여율 순위.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4270248" y="3840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#NOVA컴백 글 작성 후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 쓰기 전 0.0% → 참여자 1명으로 NOVA 1위 (테스트 당시 1/9명 = 11.1%, 캡처 시점 가입자 10명 = 10.0%).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8074152" y="3840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배너 자동 노출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 이벤트는 홈 상단 배너로 "우리 아티스트는 몇 위?" 안내.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457200" y="470916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순서: 아티스트에게 숨긴 글 제외 → 미가입자 제외 → 1인 1일 3건 초과 제외 → 인정 (HashtagEventEntryService.recordFanPost)</a:t>
            </a:r>
            <a:endParaRPr lang="en-US" sz="10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 = 참여한 가입자 ÷ 전체 가입자. 관리자가 집계를 확정하면 결과 공지 초안이 만들어집니다.</a:t>
            </a:r>
            <a:endParaRPr lang="en-US" sz="1000" dirty="0"/>
          </a:p>
        </p:txBody>
      </p:sp>
      <p:sp>
        <p:nvSpPr>
          <p:cNvPr id="35" name="test-result"/>
          <p:cNvSpPr/>
          <p:nvPr/>
        </p:nvSpPr>
        <p:spPr>
          <a:xfrm>
            <a:off x="457200" y="5806440"/>
            <a:ext cx="11274552" cy="384048"/>
          </a:xfrm>
          <a:prstGeom prst="roundRect">
            <a:avLst>
              <a:gd name="adj" fmla="val 19048"/>
            </a:avLst>
          </a:prstGeom>
          <a:solidFill>
            <a:srgbClr val="EEF1E6"/>
          </a:solidFill>
          <a:ln w="9525">
            <a:solidFill>
              <a:srgbClr val="C9D1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0"/>
          <p:cNvSpPr txBox="1"/>
          <p:nvPr/>
        </p:nvSpPr>
        <p:spPr>
          <a:xfrm>
            <a:off x="566928" y="580644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7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테스트  </a:t>
            </a:r>
            <a:r>
              <a:rPr lang="en-US" sz="950" dirty="0">
                <a:solidFill>
                  <a:srgbClr val="4A5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 게시판에 #NOVA컴백 글 작성 → 이벤트 페이지 참여율 0.0% → 11.1% 반영</a:t>
            </a:r>
            <a:endParaRPr lang="en-US" sz="95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일정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 · 알림</a:t>
            </a:r>
            <a:endParaRPr lang="en-US" sz="2200" dirty="0"/>
          </a:p>
        </p:txBody>
      </p:sp>
      <p:sp>
        <p:nvSpPr>
          <p:cNvPr id="4" name="role-FAN"/>
          <p:cNvSpPr/>
          <p:nvPr/>
        </p:nvSpPr>
        <p:spPr>
          <a:xfrm>
            <a:off x="11300155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300155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</a:t>
            </a:r>
            <a:endParaRPr lang="en-US" sz="850" dirty="0"/>
          </a:p>
        </p:txBody>
      </p:sp>
      <p:sp>
        <p:nvSpPr>
          <p:cNvPr id="7" name="frame-51_calendar_widget"/>
          <p:cNvSpPr/>
          <p:nvPr/>
        </p:nvSpPr>
        <p:spPr>
          <a:xfrm>
            <a:off x="457200" y="1444752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444752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522476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522476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522476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485900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485900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어느 화면에서나 우측 하단 📅</a:t>
            </a:r>
            <a:endParaRPr lang="en-US" sz="650" dirty="0"/>
          </a:p>
        </p:txBody>
      </p:sp>
      <p:pic>
        <p:nvPicPr>
          <p:cNvPr id="14" name="Image 0" descr="어느 화면에서나 우측 하단 📅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2496"/>
            <a:ext cx="5486400" cy="34290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527608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캘린더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가입한 커뮤니티 일정을 아티스트별 칩으로 필터. 소속사가 포털에서 등록한 일정을 /api/schedules 로 읽습니다.</a:t>
            </a:r>
            <a:endParaRPr lang="en-US" sz="1200" dirty="0"/>
          </a:p>
        </p:txBody>
      </p:sp>
      <p:sp>
        <p:nvSpPr>
          <p:cNvPr id="16" name="frame-55_notifications"/>
          <p:cNvSpPr/>
          <p:nvPr/>
        </p:nvSpPr>
        <p:spPr>
          <a:xfrm>
            <a:off x="6245352" y="1444752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245352" y="1444752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336792" y="1522476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455664" y="1522476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574536" y="1522476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748272" y="1485900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6812280" y="1485900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헤더 🔔</a:t>
            </a:r>
            <a:endParaRPr lang="en-US" sz="650" dirty="0"/>
          </a:p>
        </p:txBody>
      </p:sp>
      <p:pic>
        <p:nvPicPr>
          <p:cNvPr id="23" name="Image 1" descr="헤더 🔔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682496"/>
            <a:ext cx="5486400" cy="34290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245352" y="527608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공지, 새 아티스트 글, 라이브 시작 등. 수신 동의한 팬에게는 메일 알림도 발송됩니다.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설정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회원정보 설정 · 다국어 (KO / JA / EN)</a:t>
            </a:r>
            <a:endParaRPr lang="en-US" sz="2200" dirty="0"/>
          </a:p>
        </p:txBody>
      </p:sp>
      <p:sp>
        <p:nvSpPr>
          <p:cNvPr id="4" name="role-FAN"/>
          <p:cNvSpPr/>
          <p:nvPr/>
        </p:nvSpPr>
        <p:spPr>
          <a:xfrm>
            <a:off x="11300155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300155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FAN</a:t>
            </a:r>
            <a:endParaRPr lang="en-US" sz="850" dirty="0"/>
          </a:p>
        </p:txBody>
      </p:sp>
      <p:sp>
        <p:nvSpPr>
          <p:cNvPr id="7" name="frame-40_settings"/>
          <p:cNvSpPr/>
          <p:nvPr/>
        </p:nvSpPr>
        <p:spPr>
          <a:xfrm>
            <a:off x="457200" y="171964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71964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79736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79736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79736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76079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76079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/settings</a:t>
            </a:r>
            <a:endParaRPr lang="en-US" sz="650" dirty="0"/>
          </a:p>
        </p:txBody>
      </p:sp>
      <p:pic>
        <p:nvPicPr>
          <p:cNvPr id="14" name="Image 0" descr="/settin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7388"/>
            <a:ext cx="3611880" cy="22574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436111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회원정보 및 설정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소셜 계정 연결/해제, 기본 언어, 알림·마케팅 수신, 이메일 변경(비밀번호 재확인 + 코드), 탈퇴.</a:t>
            </a:r>
            <a:endParaRPr lang="en-US" sz="1200" dirty="0"/>
          </a:p>
        </p:txBody>
      </p:sp>
      <p:sp>
        <p:nvSpPr>
          <p:cNvPr id="16" name="frame-66_home_ja"/>
          <p:cNvSpPr/>
          <p:nvPr/>
        </p:nvSpPr>
        <p:spPr>
          <a:xfrm>
            <a:off x="4288536" y="171964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288536" y="171964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379976" y="179736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498848" y="179736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617720" y="179736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4791456" y="176079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4855464" y="176079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(日本語)</a:t>
            </a:r>
            <a:endParaRPr lang="en-US" sz="650" dirty="0"/>
          </a:p>
        </p:txBody>
      </p:sp>
      <p:pic>
        <p:nvPicPr>
          <p:cNvPr id="23" name="Image 1" descr="/ (日本語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1957388"/>
            <a:ext cx="3611880" cy="225742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288536" y="436111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일본어 화면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🌐 메뉴로 언어를 바꾸면 세션 로케일과 계정 기본 언어가 함께 바뀝니다.</a:t>
            </a:r>
            <a:endParaRPr lang="en-US" sz="1200" dirty="0"/>
          </a:p>
        </p:txBody>
      </p:sp>
      <p:sp>
        <p:nvSpPr>
          <p:cNvPr id="25" name="frame-67_shop_en"/>
          <p:cNvSpPr/>
          <p:nvPr/>
        </p:nvSpPr>
        <p:spPr>
          <a:xfrm>
            <a:off x="8119872" y="171964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8119872" y="171964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8211312" y="179736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8330184" y="179736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8449056" y="179736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8622792" y="176079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8686800" y="176079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/shop (English)</a:t>
            </a:r>
            <a:endParaRPr lang="en-US" sz="650" dirty="0"/>
          </a:p>
        </p:txBody>
      </p:sp>
      <p:pic>
        <p:nvPicPr>
          <p:cNvPr id="32" name="Image 2" descr="/shop (English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1957388"/>
            <a:ext cx="3611880" cy="225742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119872" y="436111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 화면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굿즈 카테고리·버튼·오류 문구까지 메시지 키로 번역. 관리자 화면은 한국어 고정.</a:t>
            </a:r>
            <a:endParaRPr lang="en-US" sz="1200" dirty="0"/>
          </a:p>
        </p:txBody>
      </p:sp>
      <p:sp>
        <p:nvSpPr>
          <p:cNvPr id="34" name="test-result"/>
          <p:cNvSpPr/>
          <p:nvPr/>
        </p:nvSpPr>
        <p:spPr>
          <a:xfrm>
            <a:off x="457200" y="5385245"/>
            <a:ext cx="11274552" cy="384048"/>
          </a:xfrm>
          <a:prstGeom prst="roundRect">
            <a:avLst>
              <a:gd name="adj" fmla="val 19048"/>
            </a:avLst>
          </a:prstGeom>
          <a:solidFill>
            <a:srgbClr val="EEF1E6"/>
          </a:solidFill>
          <a:ln w="9525">
            <a:solidFill>
              <a:srgbClr val="C9D1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/>
          <p:cNvSpPr txBox="1"/>
          <p:nvPr/>
        </p:nvSpPr>
        <p:spPr>
          <a:xfrm>
            <a:off x="566928" y="5385245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7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테스트  </a:t>
            </a:r>
            <a:r>
              <a:rPr lang="en-US" sz="950" dirty="0">
                <a:solidFill>
                  <a:srgbClr val="4A5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메뉴로 日本語 → English → 한국어 순서로 전환, 화면 문구 변경 확인</a:t>
            </a:r>
            <a:endParaRPr lang="en-US" sz="95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팬 서비스 · 화면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다크모드 · 모바일 반응형</a:t>
            </a:r>
            <a:endParaRPr lang="en-US" sz="2200" dirty="0"/>
          </a:p>
        </p:txBody>
      </p:sp>
      <p:sp>
        <p:nvSpPr>
          <p:cNvPr id="4" name="role-ALL"/>
          <p:cNvSpPr/>
          <p:nvPr/>
        </p:nvSpPr>
        <p:spPr>
          <a:xfrm>
            <a:off x="11377879" y="384048"/>
            <a:ext cx="356616" cy="274320"/>
          </a:xfrm>
          <a:prstGeom prst="roundRect">
            <a:avLst>
              <a:gd name="adj" fmla="val 50000"/>
            </a:avLst>
          </a:prstGeom>
          <a:solidFill>
            <a:srgbClr val="5A6773"/>
          </a:solidFill>
          <a:ln w="12700">
            <a:solidFill>
              <a:srgbClr val="5A677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377879" y="384048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endParaRPr lang="en-US" sz="850" dirty="0"/>
          </a:p>
        </p:txBody>
      </p:sp>
      <p:sp>
        <p:nvSpPr>
          <p:cNvPr id="7" name="frame-79_dark_community"/>
          <p:cNvSpPr/>
          <p:nvPr/>
        </p:nvSpPr>
        <p:spPr>
          <a:xfrm>
            <a:off x="457200" y="1234440"/>
            <a:ext cx="3657600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36576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31216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31216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31216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275588"/>
            <a:ext cx="301752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27558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/nova/fan (다크)</a:t>
            </a:r>
            <a:endParaRPr lang="en-US" sz="650" dirty="0"/>
          </a:p>
        </p:txBody>
      </p:sp>
      <p:pic>
        <p:nvPicPr>
          <p:cNvPr id="14" name="Image 0" descr="/nova/fan (다크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72184"/>
            <a:ext cx="3657600" cy="2286000"/>
          </a:xfrm>
          <a:prstGeom prst="rect">
            <a:avLst/>
          </a:prstGeom>
        </p:spPr>
      </p:pic>
      <p:sp>
        <p:nvSpPr>
          <p:cNvPr id="15" name="frame-80_dark_shop"/>
          <p:cNvSpPr/>
          <p:nvPr/>
        </p:nvSpPr>
        <p:spPr>
          <a:xfrm>
            <a:off x="457200" y="3840480"/>
            <a:ext cx="3657600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457200" y="3840480"/>
            <a:ext cx="36576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548640" y="391820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67512" y="391820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786384" y="391820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960120" y="3881628"/>
            <a:ext cx="301752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1024128" y="388162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/shop (다크)</a:t>
            </a:r>
            <a:endParaRPr lang="en-US" sz="650" dirty="0"/>
          </a:p>
        </p:txBody>
      </p:sp>
      <p:pic>
        <p:nvPicPr>
          <p:cNvPr id="22" name="Image 1" descr="/shop (다크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78224"/>
            <a:ext cx="3657600" cy="2286000"/>
          </a:xfrm>
          <a:prstGeom prst="rect">
            <a:avLst/>
          </a:prstGeom>
        </p:spPr>
      </p:pic>
      <p:sp>
        <p:nvSpPr>
          <p:cNvPr id="23" name="phone-81_m_home"/>
          <p:cNvSpPr/>
          <p:nvPr/>
        </p:nvSpPr>
        <p:spPr>
          <a:xfrm>
            <a:off x="4690872" y="1261872"/>
            <a:ext cx="1966025" cy="4105656"/>
          </a:xfrm>
          <a:prstGeom prst="roundRect">
            <a:avLst>
              <a:gd name="adj" fmla="val 8372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81_m_hom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325880"/>
            <a:ext cx="1838009" cy="3977640"/>
          </a:xfrm>
          <a:prstGeom prst="rect">
            <a:avLst/>
          </a:prstGeom>
        </p:spPr>
      </p:pic>
      <p:sp>
        <p:nvSpPr>
          <p:cNvPr id="25" name="phone-82_m_comm"/>
          <p:cNvSpPr/>
          <p:nvPr/>
        </p:nvSpPr>
        <p:spPr>
          <a:xfrm>
            <a:off x="6885497" y="1261872"/>
            <a:ext cx="1966025" cy="4105656"/>
          </a:xfrm>
          <a:prstGeom prst="roundRect">
            <a:avLst>
              <a:gd name="adj" fmla="val 8372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3" descr="82_m_com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505" y="1325880"/>
            <a:ext cx="1838009" cy="3977640"/>
          </a:xfrm>
          <a:prstGeom prst="rect">
            <a:avLst/>
          </a:prstGeom>
        </p:spPr>
      </p:pic>
      <p:sp>
        <p:nvSpPr>
          <p:cNvPr id="27" name="phone-84_m_post"/>
          <p:cNvSpPr/>
          <p:nvPr/>
        </p:nvSpPr>
        <p:spPr>
          <a:xfrm>
            <a:off x="9080122" y="1261872"/>
            <a:ext cx="1966025" cy="4105656"/>
          </a:xfrm>
          <a:prstGeom prst="roundRect">
            <a:avLst>
              <a:gd name="adj" fmla="val 8372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84_m_pos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130" y="1325880"/>
            <a:ext cx="1838009" cy="397764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4690872" y="55321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왼쪽: 다크모드  ·  오른쪽: 모바일 390px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 변수만 바꿔 전 화면에 다크 테마 적용. 모바일은 헤더 축약, 커뮤니티 좌측 패널이 위로 쌓이는 1단 레이아웃(홈 · 커뮤니티 · 게시글 상세).</a:t>
            </a:r>
            <a:endParaRPr lang="en-US" sz="12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2011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7C8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2880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 · 소속사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계정 nova_official (멤버 리안) · 소속사 agency_starlight 로 시연했습니다.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아티스트 · 소속사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입점 신청부터 멤버 로그인까지</a:t>
            </a:r>
            <a:endParaRPr lang="en-US" sz="2200" dirty="0"/>
          </a:p>
        </p:txBody>
      </p:sp>
      <p:sp>
        <p:nvSpPr>
          <p:cNvPr id="4" name="role-AGENCY"/>
          <p:cNvSpPr/>
          <p:nvPr/>
        </p:nvSpPr>
        <p:spPr>
          <a:xfrm>
            <a:off x="11066983" y="384048"/>
            <a:ext cx="667512" cy="274320"/>
          </a:xfrm>
          <a:prstGeom prst="roundRect">
            <a:avLst>
              <a:gd name="adj" fmla="val 50000"/>
            </a:avLst>
          </a:prstGeom>
          <a:solidFill>
            <a:srgbClr val="63704A"/>
          </a:solidFill>
          <a:ln w="12700">
            <a:solidFill>
              <a:srgbClr val="6370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066983" y="3840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AGENCY</a:t>
            </a:r>
            <a:endParaRPr lang="en-US" sz="850" dirty="0"/>
          </a:p>
        </p:txBody>
      </p:sp>
      <p:sp>
        <p:nvSpPr>
          <p:cNvPr id="6" name="role-GUEST"/>
          <p:cNvSpPr/>
          <p:nvPr/>
        </p:nvSpPr>
        <p:spPr>
          <a:xfrm>
            <a:off x="10559491" y="384048"/>
            <a:ext cx="434340" cy="274320"/>
          </a:xfrm>
          <a:prstGeom prst="roundRect">
            <a:avLst>
              <a:gd name="adj" fmla="val 50000"/>
            </a:avLst>
          </a:prstGeom>
          <a:solidFill>
            <a:srgbClr val="94A0AC"/>
          </a:solidFill>
          <a:ln w="12700">
            <a:solidFill>
              <a:srgbClr val="94A0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0559491" y="384048"/>
            <a:ext cx="434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비회원</a:t>
            </a:r>
            <a:endParaRPr lang="en-US" sz="850" dirty="0"/>
          </a:p>
        </p:txBody>
      </p:sp>
      <p:sp>
        <p:nvSpPr>
          <p:cNvPr id="9" name="frame-07_partnership"/>
          <p:cNvSpPr/>
          <p:nvPr/>
        </p:nvSpPr>
        <p:spPr>
          <a:xfrm>
            <a:off x="457200" y="1280160"/>
            <a:ext cx="4023360" cy="27523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7200" y="1280160"/>
            <a:ext cx="402336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48640" y="135788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67512" y="135788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786384" y="135788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60120" y="1321308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024128" y="1321308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/partnership</a:t>
            </a:r>
            <a:endParaRPr lang="en-US" sz="650" dirty="0"/>
          </a:p>
        </p:txBody>
      </p:sp>
      <p:pic>
        <p:nvPicPr>
          <p:cNvPr id="16" name="Image 0" descr="/partnershi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17904"/>
            <a:ext cx="4023360" cy="25146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937760" y="1399032"/>
            <a:ext cx="384048" cy="384048"/>
          </a:xfrm>
          <a:prstGeom prst="ellipse">
            <a:avLst/>
          </a:prstGeom>
          <a:solidFill>
            <a:srgbClr val="94A0AC"/>
          </a:solidFill>
          <a:ln w="12700">
            <a:solidFill>
              <a:srgbClr val="94A0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493776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129784" y="1783080"/>
            <a:ext cx="0" cy="256032"/>
          </a:xfrm>
          <a:prstGeom prst="line">
            <a:avLst/>
          </a:prstGeom>
          <a:noFill/>
          <a:ln w="1587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5486400" y="136245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입점 신청   </a:t>
            </a:r>
            <a:r>
              <a:rPr lang="en-US" sz="9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/partnership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937760" y="2039112"/>
            <a:ext cx="384048" cy="384048"/>
          </a:xfrm>
          <a:prstGeom prst="ellipse">
            <a:avLst/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493776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129784" y="2423160"/>
            <a:ext cx="0" cy="256032"/>
          </a:xfrm>
          <a:prstGeom prst="line">
            <a:avLst/>
          </a:prstGeom>
          <a:noFill/>
          <a:ln w="1587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 txBox="1"/>
          <p:nvPr/>
        </p:nvSpPr>
        <p:spPr>
          <a:xfrm>
            <a:off x="5486400" y="200253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승인   </a:t>
            </a:r>
            <a:r>
              <a:rPr lang="en-US" sz="9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/admin/applications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937760" y="2679192"/>
            <a:ext cx="384048" cy="384048"/>
          </a:xfrm>
          <a:prstGeom prst="ellipse">
            <a:avLst/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 txBox="1"/>
          <p:nvPr/>
        </p:nvSpPr>
        <p:spPr>
          <a:xfrm>
            <a:off x="493776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129784" y="3063240"/>
            <a:ext cx="0" cy="256032"/>
          </a:xfrm>
          <a:prstGeom prst="line">
            <a:avLst/>
          </a:prstGeom>
          <a:noFill/>
          <a:ln w="1587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 txBox="1"/>
          <p:nvPr/>
        </p:nvSpPr>
        <p:spPr>
          <a:xfrm>
            <a:off x="5486400" y="264261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활성화 메일   </a:t>
            </a:r>
            <a:r>
              <a:rPr lang="en-US" sz="9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72시간 · 토큰 해시 저장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937760" y="3319272"/>
            <a:ext cx="384048" cy="384048"/>
          </a:xfrm>
          <a:prstGeom prst="ellipse">
            <a:avLst/>
          </a:prstGeom>
          <a:solidFill>
            <a:srgbClr val="A85D67"/>
          </a:solidFill>
          <a:ln w="12700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6"/>
          <p:cNvSpPr txBox="1"/>
          <p:nvPr/>
        </p:nvSpPr>
        <p:spPr>
          <a:xfrm>
            <a:off x="493776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129784" y="3703320"/>
            <a:ext cx="0" cy="256032"/>
          </a:xfrm>
          <a:prstGeom prst="line">
            <a:avLst/>
          </a:prstGeom>
          <a:noFill/>
          <a:ln w="1587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8"/>
          <p:cNvSpPr txBox="1"/>
          <p:nvPr/>
        </p:nvSpPr>
        <p:spPr>
          <a:xfrm>
            <a:off x="5486400" y="328269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설정   </a:t>
            </a:r>
            <a:r>
              <a:rPr lang="en-US" sz="9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/partner/activate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4937760" y="3959352"/>
            <a:ext cx="384048" cy="384048"/>
          </a:xfrm>
          <a:prstGeom prst="ellipse">
            <a:avLst/>
          </a:prstGeom>
          <a:solidFill>
            <a:srgbClr val="63704A"/>
          </a:solidFill>
          <a:ln w="12700">
            <a:solidFill>
              <a:srgbClr val="6370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0"/>
          <p:cNvSpPr txBox="1"/>
          <p:nvPr/>
        </p:nvSpPr>
        <p:spPr>
          <a:xfrm>
            <a:off x="493776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129784" y="4343400"/>
            <a:ext cx="0" cy="256032"/>
          </a:xfrm>
          <a:prstGeom prst="line">
            <a:avLst/>
          </a:prstGeom>
          <a:noFill/>
          <a:ln w="1587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2"/>
          <p:cNvSpPr txBox="1"/>
          <p:nvPr/>
        </p:nvSpPr>
        <p:spPr>
          <a:xfrm>
            <a:off x="5486400" y="392277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 등록   </a:t>
            </a:r>
            <a:r>
              <a:rPr lang="en-US" sz="9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/portal/artists/new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4937760" y="4599432"/>
            <a:ext cx="384048" cy="384048"/>
          </a:xfrm>
          <a:prstGeom prst="ellipse">
            <a:avLst/>
          </a:prstGeom>
          <a:solidFill>
            <a:srgbClr val="63704A"/>
          </a:solidFill>
          <a:ln w="12700">
            <a:solidFill>
              <a:srgbClr val="6370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4"/>
          <p:cNvSpPr txBox="1"/>
          <p:nvPr/>
        </p:nvSpPr>
        <p:spPr>
          <a:xfrm>
            <a:off x="4937760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5129784" y="4983480"/>
            <a:ext cx="0" cy="256032"/>
          </a:xfrm>
          <a:prstGeom prst="line">
            <a:avLst/>
          </a:prstGeom>
          <a:noFill/>
          <a:ln w="1587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6"/>
          <p:cNvSpPr txBox="1"/>
          <p:nvPr/>
        </p:nvSpPr>
        <p:spPr>
          <a:xfrm>
            <a:off x="5486400" y="456285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 추가   </a:t>
            </a:r>
            <a:r>
              <a:rPr lang="en-US" sz="9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/portal/members</a:t>
            </a:r>
            <a:endParaRPr lang="en-US" sz="1150" dirty="0"/>
          </a:p>
        </p:txBody>
      </p:sp>
      <p:sp>
        <p:nvSpPr>
          <p:cNvPr id="41" name="Shape 37"/>
          <p:cNvSpPr/>
          <p:nvPr/>
        </p:nvSpPr>
        <p:spPr>
          <a:xfrm>
            <a:off x="4937760" y="5239512"/>
            <a:ext cx="384048" cy="384048"/>
          </a:xfrm>
          <a:prstGeom prst="ellipse">
            <a:avLst/>
          </a:prstGeom>
          <a:solidFill>
            <a:srgbClr val="8C4A54"/>
          </a:solidFill>
          <a:ln w="12700">
            <a:solidFill>
              <a:srgbClr val="8C4A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8"/>
          <p:cNvSpPr txBox="1"/>
          <p:nvPr/>
        </p:nvSpPr>
        <p:spPr>
          <a:xfrm>
            <a:off x="493776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39"/>
          <p:cNvSpPr txBox="1"/>
          <p:nvPr/>
        </p:nvSpPr>
        <p:spPr>
          <a:xfrm>
            <a:off x="5486400" y="520293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로그인   </a:t>
            </a:r>
            <a:r>
              <a:rPr lang="en-US" sz="9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 프로필 선택 + 개인 비밀번호</a:t>
            </a:r>
            <a:endParaRPr lang="en-US" sz="1150" dirty="0"/>
          </a:p>
        </p:txBody>
      </p:sp>
      <p:sp>
        <p:nvSpPr>
          <p:cNvPr id="44" name="Text 40"/>
          <p:cNvSpPr txBox="1"/>
          <p:nvPr/>
        </p:nvSpPr>
        <p:spPr>
          <a:xfrm>
            <a:off x="457200" y="39319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 · 소속사 등록 신청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유형, 소속사명, 담당자, 이메일, 연락처, 신청 내용. 신청 시 화면 언어를 저장해 승인/반려 메일을 그 언어로 보냅니다.</a:t>
            </a:r>
            <a:endParaRPr lang="en-US" sz="12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아티스트 · 그룹 로그인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로그인 → 넷플릭스식 멤버 프로필 선택</a:t>
            </a:r>
            <a:endParaRPr lang="en-US" sz="2200" dirty="0"/>
          </a:p>
        </p:txBody>
      </p:sp>
      <p:sp>
        <p:nvSpPr>
          <p:cNvPr id="4" name="role-MEMBER"/>
          <p:cNvSpPr/>
          <p:nvPr/>
        </p:nvSpPr>
        <p:spPr>
          <a:xfrm>
            <a:off x="10522915" y="384048"/>
            <a:ext cx="1211580" cy="274320"/>
          </a:xfrm>
          <a:prstGeom prst="roundRect">
            <a:avLst>
              <a:gd name="adj" fmla="val 50000"/>
            </a:avLst>
          </a:prstGeom>
          <a:solidFill>
            <a:srgbClr val="8C4A54"/>
          </a:solidFill>
          <a:ln w="12700">
            <a:solidFill>
              <a:srgbClr val="8C4A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522915" y="384048"/>
            <a:ext cx="121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ARTIST_MEMBER</a:t>
            </a:r>
            <a:endParaRPr lang="en-US" sz="850" dirty="0"/>
          </a:p>
        </p:txBody>
      </p:sp>
      <p:sp>
        <p:nvSpPr>
          <p:cNvPr id="7" name="frame-90_portal_profiles"/>
          <p:cNvSpPr/>
          <p:nvPr/>
        </p:nvSpPr>
        <p:spPr>
          <a:xfrm>
            <a:off x="457200" y="1234440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31216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31216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31216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275588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275588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/portal/profiles</a:t>
            </a:r>
            <a:endParaRPr lang="en-US" sz="650" dirty="0"/>
          </a:p>
        </p:txBody>
      </p:sp>
      <p:pic>
        <p:nvPicPr>
          <p:cNvPr id="14" name="Image 0" descr="/portal/profi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72184"/>
            <a:ext cx="5486400" cy="34290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506577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선택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계정(nova_official)으로 로그인하면 멤버 5명(시온·하람·유진·태오·리안) 중 한 명을 고릅니다.</a:t>
            </a:r>
            <a:endParaRPr lang="en-US" sz="1200" dirty="0"/>
          </a:p>
        </p:txBody>
      </p:sp>
      <p:sp>
        <p:nvSpPr>
          <p:cNvPr id="16" name="frame-91_portal_profile_pw"/>
          <p:cNvSpPr/>
          <p:nvPr/>
        </p:nvSpPr>
        <p:spPr>
          <a:xfrm>
            <a:off x="6245352" y="1234440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245352" y="1234440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336792" y="131216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455664" y="131216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574536" y="131216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748272" y="1275588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6812280" y="1275588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/portal/profiles</a:t>
            </a:r>
            <a:endParaRPr lang="en-US" sz="650" dirty="0"/>
          </a:p>
        </p:txBody>
      </p:sp>
      <p:pic>
        <p:nvPicPr>
          <p:cNvPr id="23" name="Image 1" descr="/portal/profil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472184"/>
            <a:ext cx="5486400" cy="34290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245352" y="506577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 개인 비밀번호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비밀번호만으로는 들어갈 수 없고, 멤버 개인 비밀번호를 한 번 더 확인합니다. 언어 설정도 멤버별로 저장.</a:t>
            </a:r>
            <a:endParaRPr lang="en-US" sz="1200" dirty="0"/>
          </a:p>
        </p:txBody>
      </p:sp>
      <p:sp>
        <p:nvSpPr>
          <p:cNvPr id="25" name="test-result"/>
          <p:cNvSpPr/>
          <p:nvPr/>
        </p:nvSpPr>
        <p:spPr>
          <a:xfrm>
            <a:off x="457200" y="5961888"/>
            <a:ext cx="11274552" cy="384048"/>
          </a:xfrm>
          <a:prstGeom prst="roundRect">
            <a:avLst>
              <a:gd name="adj" fmla="val 19048"/>
            </a:avLst>
          </a:prstGeom>
          <a:solidFill>
            <a:srgbClr val="EEF1E6"/>
          </a:solidFill>
          <a:ln w="9525">
            <a:solidFill>
              <a:srgbClr val="C9D1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566928" y="59618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7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테스트  </a:t>
            </a:r>
            <a:r>
              <a:rPr lang="en-US" sz="950" dirty="0">
                <a:solidFill>
                  <a:srgbClr val="4A5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nova_official 로그인 → 리안 선택 → 개인 비밀번호 확인 → NOVA 커뮤니티 아티스트 화면 진입</a:t>
            </a:r>
            <a:endParaRPr lang="en-US" sz="95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아티스트 · 멤버 화면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멤버로 로그인한 커뮤니티 — 아티스트 시점</a:t>
            </a:r>
            <a:endParaRPr lang="en-US" sz="2200" dirty="0"/>
          </a:p>
        </p:txBody>
      </p:sp>
      <p:sp>
        <p:nvSpPr>
          <p:cNvPr id="4" name="role-MEMBER"/>
          <p:cNvSpPr/>
          <p:nvPr/>
        </p:nvSpPr>
        <p:spPr>
          <a:xfrm>
            <a:off x="10522915" y="384048"/>
            <a:ext cx="1211580" cy="274320"/>
          </a:xfrm>
          <a:prstGeom prst="roundRect">
            <a:avLst>
              <a:gd name="adj" fmla="val 50000"/>
            </a:avLst>
          </a:prstGeom>
          <a:solidFill>
            <a:srgbClr val="8C4A54"/>
          </a:solidFill>
          <a:ln w="12700">
            <a:solidFill>
              <a:srgbClr val="8C4A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522915" y="384048"/>
            <a:ext cx="121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ARTIST_MEMBER</a:t>
            </a:r>
            <a:endParaRPr lang="en-US" sz="850" dirty="0"/>
          </a:p>
        </p:txBody>
      </p:sp>
      <p:sp>
        <p:nvSpPr>
          <p:cNvPr id="7" name="frame-92_member_community_view"/>
          <p:cNvSpPr/>
          <p:nvPr/>
        </p:nvSpPr>
        <p:spPr>
          <a:xfrm>
            <a:off x="457200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/community/1101/highlight</a:t>
            </a:r>
            <a:endParaRPr lang="en-US" sz="650" dirty="0"/>
          </a:p>
        </p:txBody>
      </p:sp>
      <p:pic>
        <p:nvPicPr>
          <p:cNvPr id="14" name="Image 0" descr="/community/1101/highl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31708"/>
            <a:ext cx="3611880" cy="22574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Highlight (아티스트 시점)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 가입 카드 대신 About 영역과 출석 도장. 들어온 날은 캘린더에 발자국 🐾 이 찍힙니다.</a:t>
            </a:r>
            <a:endParaRPr lang="en-US" sz="1200" dirty="0"/>
          </a:p>
        </p:txBody>
      </p:sp>
      <p:sp>
        <p:nvSpPr>
          <p:cNvPr id="16" name="frame-100_member_artist_board"/>
          <p:cNvSpPr/>
          <p:nvPr/>
        </p:nvSpPr>
        <p:spPr>
          <a:xfrm>
            <a:off x="4288536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288536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379976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498848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617720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4791456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4855464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/nova/artist</a:t>
            </a:r>
            <a:endParaRPr lang="en-US" sz="650" dirty="0"/>
          </a:p>
        </p:txBody>
      </p:sp>
      <p:pic>
        <p:nvPicPr>
          <p:cNvPr id="23" name="Image 1" descr="/nova/arti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2231708"/>
            <a:ext cx="3611880" cy="225742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288536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Artist 게시판 글쓰기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 게시판에 "포스트 작성하기" 버튼이 생깁니다. 새 글은 수신 동의 팬에게 메일 알림.</a:t>
            </a:r>
            <a:endParaRPr lang="en-US" sz="1200" dirty="0"/>
          </a:p>
        </p:txBody>
      </p:sp>
      <p:sp>
        <p:nvSpPr>
          <p:cNvPr id="25" name="frame-101_member_live"/>
          <p:cNvSpPr/>
          <p:nvPr/>
        </p:nvSpPr>
        <p:spPr>
          <a:xfrm>
            <a:off x="8119872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8119872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8211312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8330184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8449056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8622792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8686800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/nova/live</a:t>
            </a:r>
            <a:endParaRPr lang="en-US" sz="650" dirty="0"/>
          </a:p>
        </p:txBody>
      </p:sp>
      <p:pic>
        <p:nvPicPr>
          <p:cNvPr id="32" name="Image 2" descr="/nova/liv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2231708"/>
            <a:ext cx="3611880" cy="225742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119872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— 방송하기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방송하기 버튼으로 WebRTC 라이브 시작, 가입자에게 메일 알림. 녹화본은 다시보기로 저장.</a:t>
            </a:r>
            <a:endParaRPr lang="en-US" sz="12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아티스트 · 멤버 화면  NEW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 계정은 "나의 컬렉션" 사용 안 함</a:t>
            </a:r>
            <a:endParaRPr lang="en-US" sz="2200" dirty="0"/>
          </a:p>
        </p:txBody>
      </p:sp>
      <p:sp>
        <p:nvSpPr>
          <p:cNvPr id="4" name="role-MEMBER"/>
          <p:cNvSpPr/>
          <p:nvPr/>
        </p:nvSpPr>
        <p:spPr>
          <a:xfrm>
            <a:off x="10522915" y="384048"/>
            <a:ext cx="1211580" cy="274320"/>
          </a:xfrm>
          <a:prstGeom prst="roundRect">
            <a:avLst>
              <a:gd name="adj" fmla="val 50000"/>
            </a:avLst>
          </a:prstGeom>
          <a:solidFill>
            <a:srgbClr val="8C4A54"/>
          </a:solidFill>
          <a:ln w="12700">
            <a:solidFill>
              <a:srgbClr val="8C4A5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0522915" y="384048"/>
            <a:ext cx="121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ARTIST_MEMBER</a:t>
            </a:r>
            <a:endParaRPr lang="en-US" sz="850" dirty="0"/>
          </a:p>
        </p:txBody>
      </p:sp>
      <p:sp>
        <p:nvSpPr>
          <p:cNvPr id="7" name="frame-204_artist_menu"/>
          <p:cNvSpPr/>
          <p:nvPr/>
        </p:nvSpPr>
        <p:spPr>
          <a:xfrm>
            <a:off x="457200" y="1280160"/>
            <a:ext cx="7315200" cy="4809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73152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35788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35788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35788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321308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321308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/community/1101/highlight (리안 로그인 · 메뉴 열기)</a:t>
            </a:r>
            <a:endParaRPr lang="en-US" sz="650" dirty="0"/>
          </a:p>
        </p:txBody>
      </p:sp>
      <p:pic>
        <p:nvPicPr>
          <p:cNvPr id="14" name="Image 0" descr="/community/1101/highlight (리안 로그인 · 메뉴 열기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17904"/>
            <a:ext cx="7315200" cy="45720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138160" y="1325880"/>
            <a:ext cx="359359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배지는 팬 활동 보상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아티스트·멤버로 로그인하면 햄버거 메뉴에 "나의 컬렉션"이 없음 (공지사항 · Shop · 설정만)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주소창에 /collection 을 직접 입력해도 홈으로 이동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배지 상세 API(/collection/{id})는 403 으로 차단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배지 지급 자체도 BadgeAwardService 에서 FAN 만 받도록 막혀 있어, 아티스트 보유 배지는 0건 (DB 확인)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 프로젝트 등록 자격(배지 조건)도 팬에게만 해당</a:t>
            </a:r>
            <a:endParaRPr lang="en-US" sz="1300" dirty="0"/>
          </a:p>
        </p:txBody>
      </p:sp>
      <p:sp>
        <p:nvSpPr>
          <p:cNvPr id="16" name="test-result"/>
          <p:cNvSpPr/>
          <p:nvPr/>
        </p:nvSpPr>
        <p:spPr>
          <a:xfrm>
            <a:off x="8138160" y="5029200"/>
            <a:ext cx="3593592" cy="566928"/>
          </a:xfrm>
          <a:prstGeom prst="roundRect">
            <a:avLst>
              <a:gd name="adj" fmla="val 12903"/>
            </a:avLst>
          </a:prstGeom>
          <a:solidFill>
            <a:srgbClr val="EEF1E6"/>
          </a:solidFill>
          <a:ln w="9525">
            <a:solidFill>
              <a:srgbClr val="C9D1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8247888" y="5029200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7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테스트  </a:t>
            </a:r>
            <a:r>
              <a:rPr lang="en-US" sz="950" dirty="0">
                <a:solidFill>
                  <a:srgbClr val="4A5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리안 로그인 → 메뉴에 컬렉션 없음, /collection → 홈, API 403 확인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소속사 · 권한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소속사 로그인 — 관리자 승인 전과 후</a:t>
            </a:r>
            <a:endParaRPr lang="en-US" sz="2200" dirty="0"/>
          </a:p>
        </p:txBody>
      </p:sp>
      <p:sp>
        <p:nvSpPr>
          <p:cNvPr id="4" name="role-AGENCY"/>
          <p:cNvSpPr/>
          <p:nvPr/>
        </p:nvSpPr>
        <p:spPr>
          <a:xfrm>
            <a:off x="11066983" y="384048"/>
            <a:ext cx="667512" cy="274320"/>
          </a:xfrm>
          <a:prstGeom prst="roundRect">
            <a:avLst>
              <a:gd name="adj" fmla="val 50000"/>
            </a:avLst>
          </a:prstGeom>
          <a:solidFill>
            <a:srgbClr val="63704A"/>
          </a:solidFill>
          <a:ln w="12700">
            <a:solidFill>
              <a:srgbClr val="6370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066983" y="3840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AGENCY</a:t>
            </a:r>
            <a:endParaRPr lang="en-US" sz="850" dirty="0"/>
          </a:p>
        </p:txBody>
      </p:sp>
      <p:sp>
        <p:nvSpPr>
          <p:cNvPr id="7" name="frame-111_portal_after_login"/>
          <p:cNvSpPr/>
          <p:nvPr/>
        </p:nvSpPr>
        <p:spPr>
          <a:xfrm>
            <a:off x="457200" y="1234440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31216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31216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31216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275588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275588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/portal/login</a:t>
            </a:r>
            <a:endParaRPr lang="en-US" sz="650" dirty="0"/>
          </a:p>
        </p:txBody>
      </p:sp>
      <p:pic>
        <p:nvPicPr>
          <p:cNvPr id="14" name="Image 0" descr="/portal/log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72184"/>
            <a:ext cx="5486400" cy="34290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506577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전: 소속사 권한 승인 대기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로그인은 되지만 최고관리자가 소속사 담당자 권한을 승인하기 전에는 포털을 쓸 수 없습니다.</a:t>
            </a:r>
            <a:endParaRPr lang="en-US" sz="1200" dirty="0"/>
          </a:p>
        </p:txBody>
      </p:sp>
      <p:sp>
        <p:nvSpPr>
          <p:cNvPr id="16" name="frame-141_portal_dashboard"/>
          <p:cNvSpPr/>
          <p:nvPr/>
        </p:nvSpPr>
        <p:spPr>
          <a:xfrm>
            <a:off x="6245352" y="1234440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245352" y="1234440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336792" y="131216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455664" y="131216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574536" y="131216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748272" y="1275588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6812280" y="1275588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/portal/dashboard</a:t>
            </a:r>
            <a:endParaRPr lang="en-US" sz="650" dirty="0"/>
          </a:p>
        </p:txBody>
      </p:sp>
      <p:pic>
        <p:nvPicPr>
          <p:cNvPr id="23" name="Image 1" descr="/portal/dashbo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472184"/>
            <a:ext cx="5486400" cy="34290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245352" y="506577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후: 운영 대시보드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아티스트(NOVA·LUMI) 선택, 멤버십 가입자·공지·예정 일정·미디어·처리 대기 신고 수와 최근 공지·다가오는 일정.</a:t>
            </a:r>
            <a:endParaRPr lang="en-US" sz="1200" dirty="0"/>
          </a:p>
        </p:txBody>
      </p:sp>
      <p:sp>
        <p:nvSpPr>
          <p:cNvPr id="25" name="test-result"/>
          <p:cNvSpPr/>
          <p:nvPr/>
        </p:nvSpPr>
        <p:spPr>
          <a:xfrm>
            <a:off x="457200" y="5961888"/>
            <a:ext cx="11274552" cy="384048"/>
          </a:xfrm>
          <a:prstGeom prst="roundRect">
            <a:avLst>
              <a:gd name="adj" fmla="val 19048"/>
            </a:avLst>
          </a:prstGeom>
          <a:solidFill>
            <a:srgbClr val="EEF1E6"/>
          </a:solidFill>
          <a:ln w="9525">
            <a:solidFill>
              <a:srgbClr val="C9D1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566928" y="59618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7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테스트  </a:t>
            </a:r>
            <a:r>
              <a:rPr lang="en-US" sz="950" dirty="0">
                <a:solidFill>
                  <a:srgbClr val="4A5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화면에서 agency_starlight 권한 승인 → 재로그인 시 포털 대시보드 진입 확인</a:t>
            </a:r>
            <a:endParaRPr lang="en-US" sz="95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소속사 · 포털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포털 — 공지 · 스케줄 · 미디어</a:t>
            </a:r>
            <a:endParaRPr lang="en-US" sz="2200" dirty="0"/>
          </a:p>
        </p:txBody>
      </p:sp>
      <p:sp>
        <p:nvSpPr>
          <p:cNvPr id="4" name="role-AGENCY"/>
          <p:cNvSpPr/>
          <p:nvPr/>
        </p:nvSpPr>
        <p:spPr>
          <a:xfrm>
            <a:off x="11066983" y="384048"/>
            <a:ext cx="667512" cy="274320"/>
          </a:xfrm>
          <a:prstGeom prst="roundRect">
            <a:avLst>
              <a:gd name="adj" fmla="val 50000"/>
            </a:avLst>
          </a:prstGeom>
          <a:solidFill>
            <a:srgbClr val="63704A"/>
          </a:solidFill>
          <a:ln w="12700">
            <a:solidFill>
              <a:srgbClr val="6370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066983" y="3840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AGENCY</a:t>
            </a:r>
            <a:endParaRPr lang="en-US" sz="850" dirty="0"/>
          </a:p>
        </p:txBody>
      </p:sp>
      <p:sp>
        <p:nvSpPr>
          <p:cNvPr id="7" name="frame-142_portal_notices"/>
          <p:cNvSpPr/>
          <p:nvPr/>
        </p:nvSpPr>
        <p:spPr>
          <a:xfrm>
            <a:off x="457200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/portal/notices</a:t>
            </a:r>
            <a:endParaRPr lang="en-US" sz="650" dirty="0"/>
          </a:p>
        </p:txBody>
      </p:sp>
      <p:pic>
        <p:nvPicPr>
          <p:cNvPr id="14" name="Image 0" descr="/portal/notic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31708"/>
            <a:ext cx="3611880" cy="22574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공지사항 관리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Notice 탭에 올라갈 공지. 상단 고정·순서 변경, 에디터 이미지.</a:t>
            </a:r>
            <a:endParaRPr lang="en-US" sz="1200" dirty="0"/>
          </a:p>
        </p:txBody>
      </p:sp>
      <p:sp>
        <p:nvSpPr>
          <p:cNvPr id="16" name="frame-143_portal_schedule"/>
          <p:cNvSpPr/>
          <p:nvPr/>
        </p:nvSpPr>
        <p:spPr>
          <a:xfrm>
            <a:off x="4288536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288536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379976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498848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617720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4791456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4855464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/portal/schedule</a:t>
            </a:r>
            <a:endParaRPr lang="en-US" sz="650" dirty="0"/>
          </a:p>
        </p:txBody>
      </p:sp>
      <p:pic>
        <p:nvPicPr>
          <p:cNvPr id="23" name="Image 1" descr="/portal/schedu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2231708"/>
            <a:ext cx="3611880" cy="225742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288536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 관리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달력에 카테고리별 일정. 드래그로 날짜 변경, 생일·방송·공연 등. 팬 캘린더에 그대로 반영.</a:t>
            </a:r>
            <a:endParaRPr lang="en-US" sz="1200" dirty="0"/>
          </a:p>
        </p:txBody>
      </p:sp>
      <p:sp>
        <p:nvSpPr>
          <p:cNvPr id="25" name="frame-144_portal_media"/>
          <p:cNvSpPr/>
          <p:nvPr/>
        </p:nvSpPr>
        <p:spPr>
          <a:xfrm>
            <a:off x="8119872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8119872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8211312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8330184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8449056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8622792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8686800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/portal/media</a:t>
            </a:r>
            <a:endParaRPr lang="en-US" sz="650" dirty="0"/>
          </a:p>
        </p:txBody>
      </p:sp>
      <p:pic>
        <p:nvPicPr>
          <p:cNvPr id="32" name="Image 2" descr="/portal/medi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2231708"/>
            <a:ext cx="3611880" cy="225742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119872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미디어 관리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사진·영상 업로드, 멤버십 전용 공개 옵션, 노출 상태·삭제.</a:t>
            </a:r>
            <a:endParaRPr lang="en-US" sz="12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소속사 · 포털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포털 — 굿즈 · 방송 · 프로필</a:t>
            </a:r>
            <a:endParaRPr lang="en-US" sz="2200" dirty="0"/>
          </a:p>
        </p:txBody>
      </p:sp>
      <p:sp>
        <p:nvSpPr>
          <p:cNvPr id="4" name="role-AGENCY"/>
          <p:cNvSpPr/>
          <p:nvPr/>
        </p:nvSpPr>
        <p:spPr>
          <a:xfrm>
            <a:off x="11066983" y="384048"/>
            <a:ext cx="667512" cy="274320"/>
          </a:xfrm>
          <a:prstGeom prst="roundRect">
            <a:avLst>
              <a:gd name="adj" fmla="val 50000"/>
            </a:avLst>
          </a:prstGeom>
          <a:solidFill>
            <a:srgbClr val="63704A"/>
          </a:solidFill>
          <a:ln w="12700">
            <a:solidFill>
              <a:srgbClr val="6370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066983" y="3840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AGENCY</a:t>
            </a:r>
            <a:endParaRPr lang="en-US" sz="850" dirty="0"/>
          </a:p>
        </p:txBody>
      </p:sp>
      <p:sp>
        <p:nvSpPr>
          <p:cNvPr id="7" name="frame-145_portal_goods"/>
          <p:cNvSpPr/>
          <p:nvPr/>
        </p:nvSpPr>
        <p:spPr>
          <a:xfrm>
            <a:off x="457200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/portal/goods</a:t>
            </a:r>
            <a:endParaRPr lang="en-US" sz="650" dirty="0"/>
          </a:p>
        </p:txBody>
      </p:sp>
      <p:pic>
        <p:nvPicPr>
          <p:cNvPr id="14" name="Image 0" descr="/portal/good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31708"/>
            <a:ext cx="3611880" cy="22574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굿즈 관리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목록과 가격·재고·상태, 노출 순서 정렬.</a:t>
            </a:r>
            <a:endParaRPr lang="en-US" sz="1200" dirty="0"/>
          </a:p>
        </p:txBody>
      </p:sp>
      <p:sp>
        <p:nvSpPr>
          <p:cNvPr id="16" name="frame-151_portal_goods_new"/>
          <p:cNvSpPr/>
          <p:nvPr/>
        </p:nvSpPr>
        <p:spPr>
          <a:xfrm>
            <a:off x="4288536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288536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379976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498848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617720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4791456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4855464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/portal/goods/new</a:t>
            </a:r>
            <a:endParaRPr lang="en-US" sz="650" dirty="0"/>
          </a:p>
        </p:txBody>
      </p:sp>
      <p:pic>
        <p:nvPicPr>
          <p:cNvPr id="23" name="Image 1" descr="/portal/goods/ne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2231708"/>
            <a:ext cx="3611880" cy="225742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288536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굿즈 등록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카테고리별 옵션(사이즈 등)과 옵션별 재고, 썸네일, 상세 에디터 이미지.</a:t>
            </a:r>
            <a:endParaRPr lang="en-US" sz="1200" dirty="0"/>
          </a:p>
        </p:txBody>
      </p:sp>
      <p:sp>
        <p:nvSpPr>
          <p:cNvPr id="25" name="frame-146_portal_live"/>
          <p:cNvSpPr/>
          <p:nvPr/>
        </p:nvSpPr>
        <p:spPr>
          <a:xfrm>
            <a:off x="8119872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8119872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8211312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8330184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8449056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8622792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8686800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/portal/live</a:t>
            </a:r>
            <a:endParaRPr lang="en-US" sz="650" dirty="0"/>
          </a:p>
        </p:txBody>
      </p:sp>
      <p:pic>
        <p:nvPicPr>
          <p:cNvPr id="32" name="Image 2" descr="/portal/liv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2231708"/>
            <a:ext cx="3611880" cy="225742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119872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방송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미리보기 → 방송 시작/종료, 실시간 댓글. 녹화본 업로드 시 다시보기 저장.</a:t>
            </a:r>
            <a:endParaRPr lang="en-US" sz="12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소속사 · 포털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포털 — 프로필 · 멤버 · 신고 / 차단</a:t>
            </a:r>
            <a:endParaRPr lang="en-US" sz="2200" dirty="0"/>
          </a:p>
        </p:txBody>
      </p:sp>
      <p:sp>
        <p:nvSpPr>
          <p:cNvPr id="4" name="role-AGENCY"/>
          <p:cNvSpPr/>
          <p:nvPr/>
        </p:nvSpPr>
        <p:spPr>
          <a:xfrm>
            <a:off x="11066983" y="384048"/>
            <a:ext cx="667512" cy="274320"/>
          </a:xfrm>
          <a:prstGeom prst="roundRect">
            <a:avLst>
              <a:gd name="adj" fmla="val 50000"/>
            </a:avLst>
          </a:prstGeom>
          <a:solidFill>
            <a:srgbClr val="63704A"/>
          </a:solidFill>
          <a:ln w="12700">
            <a:solidFill>
              <a:srgbClr val="6370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066983" y="38404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AGENCY</a:t>
            </a:r>
            <a:endParaRPr lang="en-US" sz="850" dirty="0"/>
          </a:p>
        </p:txBody>
      </p:sp>
      <p:sp>
        <p:nvSpPr>
          <p:cNvPr id="7" name="frame-147_portal_profile"/>
          <p:cNvSpPr/>
          <p:nvPr/>
        </p:nvSpPr>
        <p:spPr>
          <a:xfrm>
            <a:off x="457200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/portal/profile</a:t>
            </a:r>
            <a:endParaRPr lang="en-US" sz="650" dirty="0"/>
          </a:p>
        </p:txBody>
      </p:sp>
      <p:pic>
        <p:nvPicPr>
          <p:cNvPr id="14" name="Image 0" descr="/portal/profi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31708"/>
            <a:ext cx="3611880" cy="22574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 관리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로고·헤더 이미지(크롭), 소개, 활동명. 이미지는 매직바이트 검사하는 storeImage()로 저장.</a:t>
            </a:r>
            <a:endParaRPr lang="en-US" sz="1200" dirty="0"/>
          </a:p>
        </p:txBody>
      </p:sp>
      <p:sp>
        <p:nvSpPr>
          <p:cNvPr id="16" name="frame-148_portal_members"/>
          <p:cNvSpPr/>
          <p:nvPr/>
        </p:nvSpPr>
        <p:spPr>
          <a:xfrm>
            <a:off x="4288536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288536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379976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498848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617720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4791456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4855464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/portal/members</a:t>
            </a:r>
            <a:endParaRPr lang="en-US" sz="650" dirty="0"/>
          </a:p>
        </p:txBody>
      </p:sp>
      <p:pic>
        <p:nvPicPr>
          <p:cNvPr id="23" name="Image 1" descr="/portal/memb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2231708"/>
            <a:ext cx="3611880" cy="225742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288536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 관리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멤버 추가·탈퇴·비밀번호 초기화. 아티스트 등록(/portal/artists/new)도 여기서 시작.</a:t>
            </a:r>
            <a:endParaRPr lang="en-US" sz="1200" dirty="0"/>
          </a:p>
        </p:txBody>
      </p:sp>
      <p:sp>
        <p:nvSpPr>
          <p:cNvPr id="25" name="frame-149_portal_reports"/>
          <p:cNvSpPr/>
          <p:nvPr/>
        </p:nvSpPr>
        <p:spPr>
          <a:xfrm>
            <a:off x="8119872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8119872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8211312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8330184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8449056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8622792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8686800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/portal/reports</a:t>
            </a:r>
            <a:endParaRPr lang="en-US" sz="650" dirty="0"/>
          </a:p>
        </p:txBody>
      </p:sp>
      <p:pic>
        <p:nvPicPr>
          <p:cNvPr id="32" name="Image 2" descr="/portal/repor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2231708"/>
            <a:ext cx="3611880" cy="225742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119872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신고함 / 차단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신고된 게시글·댓글·라이브 댓글 삭제, 작성자 차단·차단 해제.</a:t>
            </a:r>
            <a:endParaRPr lang="en-US" sz="12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2011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7C8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2880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콘솔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최고관리자 admin_super1 로 시연했습니다. 모든 관리자 행동은 감사 로그에 남습니다.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관리자 · 로그인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이메일 2단계 인증</a:t>
            </a:r>
            <a:endParaRPr lang="en-US" sz="2200" dirty="0"/>
          </a:p>
        </p:txBody>
      </p:sp>
      <p:sp>
        <p:nvSpPr>
          <p:cNvPr id="4" name="role-ADMIN"/>
          <p:cNvSpPr/>
          <p:nvPr/>
        </p:nvSpPr>
        <p:spPr>
          <a:xfrm>
            <a:off x="11144707" y="384048"/>
            <a:ext cx="589788" cy="274320"/>
          </a:xfrm>
          <a:prstGeom prst="roundRect">
            <a:avLst>
              <a:gd name="adj" fmla="val 50000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44707" y="384048"/>
            <a:ext cx="589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850" dirty="0"/>
          </a:p>
        </p:txBody>
      </p:sp>
      <p:sp>
        <p:nvSpPr>
          <p:cNvPr id="7" name="frame-120_admin_code_sent"/>
          <p:cNvSpPr/>
          <p:nvPr/>
        </p:nvSpPr>
        <p:spPr>
          <a:xfrm>
            <a:off x="457200" y="1234440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31216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31216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31216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275588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275588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/admin/login</a:t>
            </a:r>
            <a:endParaRPr lang="en-US" sz="650" dirty="0"/>
          </a:p>
        </p:txBody>
      </p:sp>
      <p:pic>
        <p:nvPicPr>
          <p:cNvPr id="14" name="Image 0" descr="/admin/log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72184"/>
            <a:ext cx="5486400" cy="34290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506577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아이디·비밀번호 → 인증번호 전송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비밀번호가 맞으면 계정에 등록된 이메일로 6자리 인증번호 발송. 유효 2분, 새로 받으면 이전 번호는 폐기.</a:t>
            </a:r>
            <a:endParaRPr lang="en-US" sz="1200" dirty="0"/>
          </a:p>
        </p:txBody>
      </p:sp>
      <p:sp>
        <p:nvSpPr>
          <p:cNvPr id="16" name="frame-121_admin_code_verified"/>
          <p:cNvSpPr/>
          <p:nvPr/>
        </p:nvSpPr>
        <p:spPr>
          <a:xfrm>
            <a:off x="6245352" y="1234440"/>
            <a:ext cx="5486400" cy="3666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245352" y="1234440"/>
            <a:ext cx="54864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6336792" y="131216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455664" y="131216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574536" y="131216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748272" y="1275588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6812280" y="1275588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/admin/login</a:t>
            </a:r>
            <a:endParaRPr lang="en-US" sz="650" dirty="0"/>
          </a:p>
        </p:txBody>
      </p:sp>
      <p:pic>
        <p:nvPicPr>
          <p:cNvPr id="23" name="Image 1" descr="/admin/log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472184"/>
            <a:ext cx="5486400" cy="34290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245352" y="5065776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인증번호 확인 → 접속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번호는 BCrypt 해시로만 저장하고, 한 번 쓰면 consumed 처리해 재사용 불가. /login 에 adminLogin=true 를 보내도 우회 불가.</a:t>
            </a:r>
            <a:endParaRPr lang="en-US" sz="1200" dirty="0"/>
          </a:p>
        </p:txBody>
      </p:sp>
      <p:sp>
        <p:nvSpPr>
          <p:cNvPr id="25" name="test-result"/>
          <p:cNvSpPr/>
          <p:nvPr/>
        </p:nvSpPr>
        <p:spPr>
          <a:xfrm>
            <a:off x="457200" y="5961888"/>
            <a:ext cx="11274552" cy="384048"/>
          </a:xfrm>
          <a:prstGeom prst="roundRect">
            <a:avLst>
              <a:gd name="adj" fmla="val 19048"/>
            </a:avLst>
          </a:prstGeom>
          <a:solidFill>
            <a:srgbClr val="EEF1E6"/>
          </a:solidFill>
          <a:ln w="9525">
            <a:solidFill>
              <a:srgbClr val="C9D1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 txBox="1"/>
          <p:nvPr/>
        </p:nvSpPr>
        <p:spPr>
          <a:xfrm>
            <a:off x="566928" y="5961888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7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테스트  </a:t>
            </a:r>
            <a:r>
              <a:rPr lang="en-US" sz="950" dirty="0">
                <a:solidFill>
                  <a:srgbClr val="4A5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인증번호 발송 → 확인 → 관리자 대시보드 진입 (화이트보드 시점엔 "미연결"이던 기능)</a:t>
            </a:r>
            <a:endParaRPr lang="en-US" sz="95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관리자 · 대시보드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운영 대시보드</a:t>
            </a:r>
            <a:endParaRPr lang="en-US" sz="2200" dirty="0"/>
          </a:p>
        </p:txBody>
      </p:sp>
      <p:sp>
        <p:nvSpPr>
          <p:cNvPr id="4" name="role-ADMIN"/>
          <p:cNvSpPr/>
          <p:nvPr/>
        </p:nvSpPr>
        <p:spPr>
          <a:xfrm>
            <a:off x="11144707" y="384048"/>
            <a:ext cx="589788" cy="274320"/>
          </a:xfrm>
          <a:prstGeom prst="roundRect">
            <a:avLst>
              <a:gd name="adj" fmla="val 50000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44707" y="384048"/>
            <a:ext cx="589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850" dirty="0"/>
          </a:p>
        </p:txBody>
      </p:sp>
      <p:sp>
        <p:nvSpPr>
          <p:cNvPr id="7" name="frame-122_admin_dashboard"/>
          <p:cNvSpPr/>
          <p:nvPr/>
        </p:nvSpPr>
        <p:spPr>
          <a:xfrm>
            <a:off x="457200" y="1280160"/>
            <a:ext cx="7315200" cy="4809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73152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35788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35788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35788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321308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321308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/admin/dashboard</a:t>
            </a:r>
            <a:endParaRPr lang="en-US" sz="650" dirty="0"/>
          </a:p>
        </p:txBody>
      </p:sp>
      <p:pic>
        <p:nvPicPr>
          <p:cNvPr id="14" name="Image 0" descr="/admin/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17904"/>
            <a:ext cx="7315200" cy="45720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138160" y="1325880"/>
            <a:ext cx="359359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운영 현황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회원 · 오늘 처리할 신고 · 활성 커뮤니티 · 처리 대기 신고 · 정지 회원 수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30일 가입자 추이 그래프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역할별 현황 (팬·아티스트·소속사·관리자)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승인 대기, 심각 신고 대기, 최근 관리자 활동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관리자 · 회원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· 아티스트 · 소속사 관리</a:t>
            </a:r>
            <a:endParaRPr lang="en-US" sz="2200" dirty="0"/>
          </a:p>
        </p:txBody>
      </p:sp>
      <p:sp>
        <p:nvSpPr>
          <p:cNvPr id="4" name="role-ADMIN"/>
          <p:cNvSpPr/>
          <p:nvPr/>
        </p:nvSpPr>
        <p:spPr>
          <a:xfrm>
            <a:off x="11144707" y="384048"/>
            <a:ext cx="589788" cy="274320"/>
          </a:xfrm>
          <a:prstGeom prst="roundRect">
            <a:avLst>
              <a:gd name="adj" fmla="val 50000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44707" y="384048"/>
            <a:ext cx="589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850" dirty="0"/>
          </a:p>
        </p:txBody>
      </p:sp>
      <p:sp>
        <p:nvSpPr>
          <p:cNvPr id="7" name="frame-123_admin_users"/>
          <p:cNvSpPr/>
          <p:nvPr/>
        </p:nvSpPr>
        <p:spPr>
          <a:xfrm>
            <a:off x="457200" y="171964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71964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79736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79736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79736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76079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76079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/admin/users</a:t>
            </a:r>
            <a:endParaRPr lang="en-US" sz="650" dirty="0"/>
          </a:p>
        </p:txBody>
      </p:sp>
      <p:pic>
        <p:nvPicPr>
          <p:cNvPr id="14" name="Image 0" descr="/admin/us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7388"/>
            <a:ext cx="3611880" cy="22574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436111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회원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역할·상태·가입 경로 필터와 검색. 정지·복구.</a:t>
            </a:r>
            <a:endParaRPr lang="en-US" sz="1200" dirty="0"/>
          </a:p>
        </p:txBody>
      </p:sp>
      <p:sp>
        <p:nvSpPr>
          <p:cNvPr id="16" name="frame-124_admin_artists"/>
          <p:cNvSpPr/>
          <p:nvPr/>
        </p:nvSpPr>
        <p:spPr>
          <a:xfrm>
            <a:off x="4288536" y="171964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288536" y="171964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379976" y="179736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498848" y="179736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617720" y="179736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4791456" y="176079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4855464" y="176079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/admin/artists</a:t>
            </a:r>
            <a:endParaRPr lang="en-US" sz="650" dirty="0"/>
          </a:p>
        </p:txBody>
      </p:sp>
      <p:pic>
        <p:nvPicPr>
          <p:cNvPr id="23" name="Image 1" descr="/admin/artis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1957388"/>
            <a:ext cx="3611880" cy="225742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288536" y="436111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 관리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그룹/솔로, 소속사, 계정 상태, 활성화 메일 재발송.</a:t>
            </a:r>
            <a:endParaRPr lang="en-US" sz="1200" dirty="0"/>
          </a:p>
        </p:txBody>
      </p:sp>
      <p:sp>
        <p:nvSpPr>
          <p:cNvPr id="25" name="frame-134_admin_agency_approved"/>
          <p:cNvSpPr/>
          <p:nvPr/>
        </p:nvSpPr>
        <p:spPr>
          <a:xfrm>
            <a:off x="8119872" y="171964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8119872" y="171964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8211312" y="179736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8330184" y="179736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8449056" y="179736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8622792" y="176079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8686800" y="176079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/admin/agencies</a:t>
            </a:r>
            <a:endParaRPr lang="en-US" sz="650" dirty="0"/>
          </a:p>
        </p:txBody>
      </p:sp>
      <p:pic>
        <p:nvPicPr>
          <p:cNvPr id="32" name="Image 2" descr="/admin/agenci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1957388"/>
            <a:ext cx="3611880" cy="225742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119872" y="436111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소속사 권한 승인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대기 담당자를 승인하면 포털 사용 가능. 승인·회수 모두 로그 기록.</a:t>
            </a:r>
            <a:endParaRPr lang="en-US" sz="1200" dirty="0"/>
          </a:p>
        </p:txBody>
      </p:sp>
      <p:sp>
        <p:nvSpPr>
          <p:cNvPr id="34" name="test-result"/>
          <p:cNvSpPr/>
          <p:nvPr/>
        </p:nvSpPr>
        <p:spPr>
          <a:xfrm>
            <a:off x="457200" y="5385245"/>
            <a:ext cx="11274552" cy="384048"/>
          </a:xfrm>
          <a:prstGeom prst="roundRect">
            <a:avLst>
              <a:gd name="adj" fmla="val 19048"/>
            </a:avLst>
          </a:prstGeom>
          <a:solidFill>
            <a:srgbClr val="EEF1E6"/>
          </a:solidFill>
          <a:ln w="9525">
            <a:solidFill>
              <a:srgbClr val="C9D1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/>
          <p:cNvSpPr txBox="1"/>
          <p:nvPr/>
        </p:nvSpPr>
        <p:spPr>
          <a:xfrm>
            <a:off x="566928" y="5385245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7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테스트  </a:t>
            </a:r>
            <a:r>
              <a:rPr lang="en-US" sz="950" dirty="0">
                <a:solidFill>
                  <a:srgbClr val="4A5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agency_starlight 소속사 권한 "승인" → 승인 완료 표시 + agency_profiles.approved_at 기록 확인</a:t>
            </a:r>
            <a:endParaRPr lang="en-US" sz="95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관리자 · 운영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신청 · 팬 프로젝트 · 통합 신고</a:t>
            </a:r>
            <a:endParaRPr lang="en-US" sz="2200" dirty="0"/>
          </a:p>
        </p:txBody>
      </p:sp>
      <p:sp>
        <p:nvSpPr>
          <p:cNvPr id="4" name="role-ADMIN"/>
          <p:cNvSpPr/>
          <p:nvPr/>
        </p:nvSpPr>
        <p:spPr>
          <a:xfrm>
            <a:off x="11144707" y="384048"/>
            <a:ext cx="589788" cy="274320"/>
          </a:xfrm>
          <a:prstGeom prst="roundRect">
            <a:avLst>
              <a:gd name="adj" fmla="val 50000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44707" y="384048"/>
            <a:ext cx="589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850" dirty="0"/>
          </a:p>
        </p:txBody>
      </p:sp>
      <p:sp>
        <p:nvSpPr>
          <p:cNvPr id="7" name="frame-126_admin_applications"/>
          <p:cNvSpPr/>
          <p:nvPr/>
        </p:nvSpPr>
        <p:spPr>
          <a:xfrm>
            <a:off x="457200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/admin/applications</a:t>
            </a:r>
            <a:endParaRPr lang="en-US" sz="650" dirty="0"/>
          </a:p>
        </p:txBody>
      </p:sp>
      <p:pic>
        <p:nvPicPr>
          <p:cNvPr id="14" name="Image 0" descr="/admin/applicati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31708"/>
            <a:ext cx="3611880" cy="22574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아티스트·소속사 등록 신청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상세 확인 → 승인(활성화 메일 발송) / 반려(사유 메일) / 메일 재발송.</a:t>
            </a:r>
            <a:endParaRPr lang="en-US" sz="1200" dirty="0"/>
          </a:p>
        </p:txBody>
      </p:sp>
      <p:sp>
        <p:nvSpPr>
          <p:cNvPr id="16" name="frame-127_admin_communities"/>
          <p:cNvSpPr/>
          <p:nvPr/>
        </p:nvSpPr>
        <p:spPr>
          <a:xfrm>
            <a:off x="4288536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288536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379976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498848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617720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4791456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4855464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/admin/communities</a:t>
            </a:r>
            <a:endParaRPr lang="en-US" sz="650" dirty="0"/>
          </a:p>
        </p:txBody>
      </p:sp>
      <p:pic>
        <p:nvPicPr>
          <p:cNvPr id="23" name="Image 1" descr="/admin/communiti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2231708"/>
            <a:ext cx="3611880" cy="225742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288536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운영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 프로젝트 심사 대기 승인·반려, 전체 모금 현황, 정산 계좌 확인 → 정산 완료.</a:t>
            </a:r>
            <a:endParaRPr lang="en-US" sz="1200" dirty="0"/>
          </a:p>
        </p:txBody>
      </p:sp>
      <p:sp>
        <p:nvSpPr>
          <p:cNvPr id="25" name="frame-128_admin_reports"/>
          <p:cNvSpPr/>
          <p:nvPr/>
        </p:nvSpPr>
        <p:spPr>
          <a:xfrm>
            <a:off x="8119872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8119872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8211312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8330184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8449056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8622792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8686800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/admin/reports</a:t>
            </a:r>
            <a:endParaRPr lang="en-US" sz="650" dirty="0"/>
          </a:p>
        </p:txBody>
      </p:sp>
      <p:pic>
        <p:nvPicPr>
          <p:cNvPr id="32" name="Image 2" descr="/admin/repor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2231708"/>
            <a:ext cx="3611880" cy="225742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119872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신고 · 제재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게시글·댓글 신고 기각 또는 삭제, 작성자 정지. 제재 대상 탭 분리.</a:t>
            </a:r>
            <a:endParaRPr lang="en-US" sz="12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관리자 · 콘텐츠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배너 · 사이트 공지 · 채팅 금칙어</a:t>
            </a:r>
            <a:endParaRPr lang="en-US" sz="2200" dirty="0"/>
          </a:p>
        </p:txBody>
      </p:sp>
      <p:sp>
        <p:nvSpPr>
          <p:cNvPr id="4" name="role-ADMIN"/>
          <p:cNvSpPr/>
          <p:nvPr/>
        </p:nvSpPr>
        <p:spPr>
          <a:xfrm>
            <a:off x="11144707" y="384048"/>
            <a:ext cx="589788" cy="274320"/>
          </a:xfrm>
          <a:prstGeom prst="roundRect">
            <a:avLst>
              <a:gd name="adj" fmla="val 50000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44707" y="384048"/>
            <a:ext cx="589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850" dirty="0"/>
          </a:p>
        </p:txBody>
      </p:sp>
      <p:sp>
        <p:nvSpPr>
          <p:cNvPr id="7" name="frame-129_admin_banners"/>
          <p:cNvSpPr/>
          <p:nvPr/>
        </p:nvSpPr>
        <p:spPr>
          <a:xfrm>
            <a:off x="457200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/admin/banners</a:t>
            </a:r>
            <a:endParaRPr lang="en-US" sz="650" dirty="0"/>
          </a:p>
        </p:txBody>
      </p:sp>
      <p:pic>
        <p:nvPicPr>
          <p:cNvPr id="14" name="Image 0" descr="/admin/bann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31708"/>
            <a:ext cx="3611880" cy="22574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배너 영역 관리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배너를 아티스트 커뮤니티·굿즈 상품에 연결. 노출 순서, 숨기기.</a:t>
            </a:r>
            <a:endParaRPr lang="en-US" sz="1200" dirty="0"/>
          </a:p>
        </p:txBody>
      </p:sp>
      <p:sp>
        <p:nvSpPr>
          <p:cNvPr id="16" name="frame-130_admin_notices"/>
          <p:cNvSpPr/>
          <p:nvPr/>
        </p:nvSpPr>
        <p:spPr>
          <a:xfrm>
            <a:off x="4288536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288536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379976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498848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617720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4791456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4855464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/admin/notices</a:t>
            </a:r>
            <a:endParaRPr lang="en-US" sz="650" dirty="0"/>
          </a:p>
        </p:txBody>
      </p:sp>
      <p:pic>
        <p:nvPicPr>
          <p:cNvPr id="23" name="Image 1" descr="/admin/notic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2231708"/>
            <a:ext cx="3611880" cy="225742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288536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 공지사항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카테고리(점검·이벤트 등), 상단 고정 최대 3개, 에디터 이미지.</a:t>
            </a:r>
            <a:endParaRPr lang="en-US" sz="1200" dirty="0"/>
          </a:p>
        </p:txBody>
      </p:sp>
      <p:sp>
        <p:nvSpPr>
          <p:cNvPr id="25" name="frame-133_admin_keywords"/>
          <p:cNvSpPr/>
          <p:nvPr/>
        </p:nvSpPr>
        <p:spPr>
          <a:xfrm>
            <a:off x="8119872" y="1993964"/>
            <a:ext cx="3611880" cy="2495169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8119872" y="1993964"/>
            <a:ext cx="361188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8211312" y="2071688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8330184" y="2071688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8449056" y="2071688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8622792" y="203511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8686800" y="2035112"/>
            <a:ext cx="2880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/chat/admin/keywords</a:t>
            </a:r>
            <a:endParaRPr lang="en-US" sz="650" dirty="0"/>
          </a:p>
        </p:txBody>
      </p:sp>
      <p:pic>
        <p:nvPicPr>
          <p:cNvPr id="32" name="Image 2" descr="/chat/admin/keyword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2231708"/>
            <a:ext cx="3611880" cy="225742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119872" y="4635437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· 금칙어 관리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 금칙어 추가·수정·삭제. 금칙어가 들어간 메시지는 전송 단계에서 차단.</a:t>
            </a:r>
            <a:endParaRPr lang="en-US" sz="12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관리자 · 이벤트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해시태그 총공 이벤트 만들기</a:t>
            </a:r>
            <a:endParaRPr lang="en-US" sz="2200" dirty="0"/>
          </a:p>
        </p:txBody>
      </p:sp>
      <p:sp>
        <p:nvSpPr>
          <p:cNvPr id="4" name="role-ADMIN"/>
          <p:cNvSpPr/>
          <p:nvPr/>
        </p:nvSpPr>
        <p:spPr>
          <a:xfrm>
            <a:off x="11144707" y="384048"/>
            <a:ext cx="589788" cy="274320"/>
          </a:xfrm>
          <a:prstGeom prst="roundRect">
            <a:avLst>
              <a:gd name="adj" fmla="val 50000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44707" y="384048"/>
            <a:ext cx="589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850" dirty="0"/>
          </a:p>
        </p:txBody>
      </p:sp>
      <p:sp>
        <p:nvSpPr>
          <p:cNvPr id="7" name="frame-137b_admin_hashtag_validation"/>
          <p:cNvSpPr/>
          <p:nvPr/>
        </p:nvSpPr>
        <p:spPr>
          <a:xfrm>
            <a:off x="457200" y="1280160"/>
            <a:ext cx="3657600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36576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35788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35788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35788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321308"/>
            <a:ext cx="301752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32130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/admin/events/hashtag/new</a:t>
            </a:r>
            <a:endParaRPr lang="en-US" sz="650" dirty="0"/>
          </a:p>
        </p:txBody>
      </p:sp>
      <p:pic>
        <p:nvPicPr>
          <p:cNvPr id="14" name="Image 0" descr="/admin/events/hashtag/n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17904"/>
            <a:ext cx="3657600" cy="2286000"/>
          </a:xfrm>
          <a:prstGeom prst="rect">
            <a:avLst/>
          </a:prstGeom>
        </p:spPr>
      </p:pic>
      <p:sp>
        <p:nvSpPr>
          <p:cNvPr id="15" name="frame-138_admin_hashtag_created"/>
          <p:cNvSpPr/>
          <p:nvPr/>
        </p:nvSpPr>
        <p:spPr>
          <a:xfrm>
            <a:off x="4270248" y="1280160"/>
            <a:ext cx="3657600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4270248" y="1280160"/>
            <a:ext cx="36576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361688" y="135788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480560" y="135788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599432" y="135788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4773168" y="1321308"/>
            <a:ext cx="301752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 txBox="1"/>
          <p:nvPr/>
        </p:nvSpPr>
        <p:spPr>
          <a:xfrm>
            <a:off x="4837176" y="132130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/admin/events/hashtag</a:t>
            </a:r>
            <a:endParaRPr lang="en-US" sz="650" dirty="0"/>
          </a:p>
        </p:txBody>
      </p:sp>
      <p:pic>
        <p:nvPicPr>
          <p:cNvPr id="22" name="Image 1" descr="/admin/events/hasht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517904"/>
            <a:ext cx="3657600" cy="2286000"/>
          </a:xfrm>
          <a:prstGeom prst="rect">
            <a:avLst/>
          </a:prstGeom>
        </p:spPr>
      </p:pic>
      <p:sp>
        <p:nvSpPr>
          <p:cNvPr id="23" name="frame-139_admin_hashtag_detail"/>
          <p:cNvSpPr/>
          <p:nvPr/>
        </p:nvSpPr>
        <p:spPr>
          <a:xfrm>
            <a:off x="8074152" y="1280160"/>
            <a:ext cx="3657600" cy="2523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8074152" y="1280160"/>
            <a:ext cx="36576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8165592" y="135788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1"/>
          <p:cNvSpPr/>
          <p:nvPr/>
        </p:nvSpPr>
        <p:spPr>
          <a:xfrm>
            <a:off x="8284464" y="135788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8403336" y="135788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8577072" y="1321308"/>
            <a:ext cx="301752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 txBox="1"/>
          <p:nvPr/>
        </p:nvSpPr>
        <p:spPr>
          <a:xfrm>
            <a:off x="8641080" y="1321308"/>
            <a:ext cx="2926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/admin/events/hashtag/1</a:t>
            </a:r>
            <a:endParaRPr lang="en-US" sz="650" dirty="0"/>
          </a:p>
        </p:txBody>
      </p:sp>
      <p:pic>
        <p:nvPicPr>
          <p:cNvPr id="30" name="Image 2" descr="/admin/events/hashtag/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1517904"/>
            <a:ext cx="3657600" cy="22860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457200" y="3840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입력 검증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"기간은 3~7일이어야 해요 (현재 8일)". 다른 이벤트와 기간이 겹쳐도 등록 불가. 2팀 이상.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4270248" y="3840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이벤트 생성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10월 NOVA·LUMI 컴백 총공 · 10.05 ~ 10.11 · 진행 중.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8074152" y="3840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모니터링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팀별 가입자·참여자·글 수·참여율, 일자별 인정 글 수. 종료 후 집계 확정.</a:t>
            </a:r>
            <a:endParaRPr lang="en-US" sz="1200" dirty="0"/>
          </a:p>
        </p:txBody>
      </p:sp>
      <p:sp>
        <p:nvSpPr>
          <p:cNvPr id="34" name="test-result"/>
          <p:cNvSpPr/>
          <p:nvPr/>
        </p:nvSpPr>
        <p:spPr>
          <a:xfrm>
            <a:off x="457200" y="5120640"/>
            <a:ext cx="11274552" cy="384048"/>
          </a:xfrm>
          <a:prstGeom prst="roundRect">
            <a:avLst>
              <a:gd name="adj" fmla="val 19048"/>
            </a:avLst>
          </a:prstGeom>
          <a:solidFill>
            <a:srgbClr val="EEF1E6"/>
          </a:solidFill>
          <a:ln w="9525">
            <a:solidFill>
              <a:srgbClr val="C9D1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/>
          <p:cNvSpPr txBox="1"/>
          <p:nvPr/>
        </p:nvSpPr>
        <p:spPr>
          <a:xfrm>
            <a:off x="566928" y="5120640"/>
            <a:ext cx="11055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7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테스트  </a:t>
            </a:r>
            <a:r>
              <a:rPr lang="en-US" sz="950" dirty="0">
                <a:solidFill>
                  <a:srgbClr val="4A5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검증 오류 확인 → 수정 후 생성 성공 → 홈 배너와 /events/hashtag 에 즉시 노출</a:t>
            </a:r>
            <a:endParaRPr lang="en-US" sz="95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관리자 · 감사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로그 — 모든 행동 기록</a:t>
            </a:r>
            <a:endParaRPr lang="en-US" sz="2200" dirty="0"/>
          </a:p>
        </p:txBody>
      </p:sp>
      <p:sp>
        <p:nvSpPr>
          <p:cNvPr id="4" name="role-ADMIN"/>
          <p:cNvSpPr/>
          <p:nvPr/>
        </p:nvSpPr>
        <p:spPr>
          <a:xfrm>
            <a:off x="11144707" y="384048"/>
            <a:ext cx="589788" cy="274320"/>
          </a:xfrm>
          <a:prstGeom prst="roundRect">
            <a:avLst>
              <a:gd name="adj" fmla="val 50000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1144707" y="384048"/>
            <a:ext cx="589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850" dirty="0"/>
          </a:p>
        </p:txBody>
      </p:sp>
      <p:sp>
        <p:nvSpPr>
          <p:cNvPr id="7" name="frame-135_admin_logs_after"/>
          <p:cNvSpPr/>
          <p:nvPr/>
        </p:nvSpPr>
        <p:spPr>
          <a:xfrm>
            <a:off x="457200" y="1280160"/>
            <a:ext cx="7315200" cy="48097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7315200" cy="237744"/>
          </a:xfrm>
          <a:prstGeom prst="rect">
            <a:avLst/>
          </a:prstGeom>
          <a:solidFill>
            <a:srgbClr val="F3F1EC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48640" y="1357884"/>
            <a:ext cx="82296" cy="82296"/>
          </a:xfrm>
          <a:prstGeom prst="ellipse">
            <a:avLst/>
          </a:prstGeom>
          <a:solidFill>
            <a:srgbClr val="E0969E"/>
          </a:solidFill>
          <a:ln w="12700">
            <a:solidFill>
              <a:srgbClr val="E096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67512" y="1357884"/>
            <a:ext cx="82296" cy="82296"/>
          </a:xfrm>
          <a:prstGeom prst="ellipse">
            <a:avLst/>
          </a:prstGeom>
          <a:solidFill>
            <a:srgbClr val="F7C8D3"/>
          </a:solidFill>
          <a:ln w="12700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1357884"/>
            <a:ext cx="82296" cy="82296"/>
          </a:xfrm>
          <a:prstGeom prst="ellipse">
            <a:avLst/>
          </a:prstGeom>
          <a:solidFill>
            <a:srgbClr val="D9D3C8"/>
          </a:solidFill>
          <a:ln w="12700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60120" y="1321308"/>
            <a:ext cx="329184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24128" y="1321308"/>
            <a:ext cx="3200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/admin/logs</a:t>
            </a:r>
            <a:endParaRPr lang="en-US" sz="650" dirty="0"/>
          </a:p>
        </p:txBody>
      </p:sp>
      <p:pic>
        <p:nvPicPr>
          <p:cNvPr id="14" name="Image 0" descr="/admin/lo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17904"/>
            <a:ext cx="7315200" cy="45720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138160" y="1325880"/>
            <a:ext cx="359359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· 언제 · 무엇을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행동(승인·반려·정지·삭제·이벤트 생성 등)을 대상·사유·IP와 함께 저장 (admin_action_logs)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관리자·조치·대상 유형·기간 필터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실행한 "소속사 권한 승인" 기록이 바로 조회됨</a:t>
            </a:r>
            <a:endParaRPr lang="en-US" sz="1300" dirty="0"/>
          </a:p>
        </p:txBody>
      </p:sp>
      <p:sp>
        <p:nvSpPr>
          <p:cNvPr id="16" name="test-result"/>
          <p:cNvSpPr/>
          <p:nvPr/>
        </p:nvSpPr>
        <p:spPr>
          <a:xfrm>
            <a:off x="8138160" y="5029200"/>
            <a:ext cx="3593592" cy="566928"/>
          </a:xfrm>
          <a:prstGeom prst="roundRect">
            <a:avLst>
              <a:gd name="adj" fmla="val 12903"/>
            </a:avLst>
          </a:prstGeom>
          <a:solidFill>
            <a:srgbClr val="EEF1E6"/>
          </a:solidFill>
          <a:ln w="9525">
            <a:solidFill>
              <a:srgbClr val="C9D1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8247888" y="5029200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7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테스트  </a:t>
            </a:r>
            <a:r>
              <a:rPr lang="en-US" sz="950" dirty="0">
                <a:solidFill>
                  <a:srgbClr val="4A5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직후 로그 1건 생성 확인 (admin_super1, 대상 agency_starlight)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22960" y="2011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7C8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22960" y="2880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설명</a:t>
            </a: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22960" y="3657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실시간 통신 · 이벤트 기반 처리 · 보안 · 다국어 · 스케줄러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기술 설명 · 결제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공통 구조 — Toss 가상계좌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FBEEF1"/>
          </a:solidFill>
          <a:ln w="9525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457200" y="1463040"/>
            <a:ext cx="17373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 브라우저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0" y="146304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2743200" y="1463040"/>
            <a:ext cx="2377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서비스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(Shop · Membership · Project)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669280" y="146304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2D3A47"/>
          </a:solidFill>
          <a:ln w="9525">
            <a:solidFill>
              <a:srgbClr val="2D3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5669280" y="1463040"/>
            <a:ext cx="17373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Toss Payments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0" y="297180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2743200" y="2971800"/>
            <a:ext cx="2377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행 (행 잠금)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297180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FFF3D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5669280" y="2971800"/>
            <a:ext cx="17373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웹훅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/payments/toss/webhook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297180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FFF3D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457200" y="2971800"/>
            <a:ext cx="17373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스케줄러 3종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(5분 주기)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194560" y="1801368"/>
            <a:ext cx="548640" cy="914"/>
          </a:xfrm>
          <a:prstGeom prst="line">
            <a:avLst/>
          </a:prstGeom>
          <a:noFill/>
          <a:ln w="15875">
            <a:solidFill>
              <a:srgbClr val="A85D6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2011680" y="15819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120640" y="1801368"/>
            <a:ext cx="548640" cy="914"/>
          </a:xfrm>
          <a:prstGeom prst="line">
            <a:avLst/>
          </a:prstGeom>
          <a:noFill/>
          <a:ln w="15875">
            <a:solidFill>
              <a:srgbClr val="A85D6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4937760" y="15819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계좌 발급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931920" y="2148840"/>
            <a:ext cx="914" cy="822960"/>
          </a:xfrm>
          <a:prstGeom prst="line">
            <a:avLst/>
          </a:prstGeom>
          <a:noFill/>
          <a:ln w="15875">
            <a:solidFill>
              <a:srgbClr val="5A677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6537960" y="2148840"/>
            <a:ext cx="914" cy="822960"/>
          </a:xfrm>
          <a:prstGeom prst="line">
            <a:avLst/>
          </a:prstGeom>
          <a:noFill/>
          <a:ln w="15875">
            <a:solidFill>
              <a:srgbClr val="5A677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611112" y="24597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입금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 flipH="1">
            <a:off x="5120640" y="3310128"/>
            <a:ext cx="548640" cy="914"/>
          </a:xfrm>
          <a:prstGeom prst="line">
            <a:avLst/>
          </a:prstGeom>
          <a:noFill/>
          <a:ln w="15875">
            <a:solidFill>
              <a:srgbClr val="5A677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4937760" y="3090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194560" y="3310128"/>
            <a:ext cx="548640" cy="914"/>
          </a:xfrm>
          <a:prstGeom prst="line">
            <a:avLst/>
          </a:prstGeom>
          <a:noFill/>
          <a:ln w="15875">
            <a:solidFill>
              <a:srgbClr val="5A677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2011680" y="3090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38404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웹훅은 현재 팬 프로젝트 주문만 처리 → 멤버십·굿즈는 스케줄러로 최대 5분 지연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57200" y="4343400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94A0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457200" y="4343400"/>
            <a:ext cx="16459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4343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4A0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결제창 열기 전 · 60분 초과 시 실패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2240280" y="4343400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2240280" y="4343400"/>
            <a:ext cx="16459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2286000" y="4343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WAITING_FOR_DEPOSIT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가상계좌 발급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023360" y="4343400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6370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4023360" y="4343400"/>
            <a:ext cx="16459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4069080" y="4343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70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PAID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입금 확정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806440" y="4343400"/>
            <a:ext cx="16459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C241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 txBox="1"/>
          <p:nvPr/>
        </p:nvSpPr>
        <p:spPr>
          <a:xfrm>
            <a:off x="5806440" y="4343400"/>
            <a:ext cx="16459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5852160" y="43434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24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EXPIRED / FAILED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 만료 · 실패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7955280" y="1463040"/>
            <a:ext cx="37764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행 PESSIMISTIC_WRITE 잠금 후 상태 변경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재검증: 서버 금액과 Toss 응답 금액 비교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 키(orderNo)로 중복 확정 방지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웹훅은 항상 200 응답(재시도 폭주 방지), secret 검증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굿즈 재고는 입금 확정 시점에 행 잠금으로 차감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계좌 AES-GCM 암호화 + HMAC 중복 검사</a:t>
            </a:r>
            <a:endParaRPr lang="en-US" sz="13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기술 설명 · 실시간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통신 — STOMP DM과 WebRTC 라이브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68580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 (STOMP over WebSocket)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14400" y="1965960"/>
            <a:ext cx="45720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914400" y="1965960"/>
            <a:ext cx="45720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 → /app/chat.send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00400" y="2569464"/>
            <a:ext cx="914" cy="182880"/>
          </a:xfrm>
          <a:prstGeom prst="line">
            <a:avLst/>
          </a:prstGeom>
          <a:noFill/>
          <a:ln w="15875">
            <a:solidFill>
              <a:srgbClr val="A85D6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914400" y="2752344"/>
            <a:ext cx="4572000" cy="603504"/>
          </a:xfrm>
          <a:prstGeom prst="roundRect">
            <a:avLst>
              <a:gd name="adj" fmla="val 9091"/>
            </a:avLst>
          </a:prstGeom>
          <a:solidFill>
            <a:srgbClr val="FBEEF1"/>
          </a:solidFill>
          <a:ln w="9525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914400" y="2752344"/>
            <a:ext cx="45720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ChatController.send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senderId 위조 · 금칙어 · 멤버십 · 한도(10건)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3355848"/>
            <a:ext cx="914" cy="182880"/>
          </a:xfrm>
          <a:prstGeom prst="line">
            <a:avLst/>
          </a:prstGeom>
          <a:noFill/>
          <a:ln w="15875">
            <a:solidFill>
              <a:srgbClr val="A85D6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14400" y="3538728"/>
            <a:ext cx="45720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914400" y="3538728"/>
            <a:ext cx="45720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(visibleToArtist = 30% 판정)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00400" y="4142232"/>
            <a:ext cx="914" cy="182880"/>
          </a:xfrm>
          <a:prstGeom prst="line">
            <a:avLst/>
          </a:prstGeom>
          <a:noFill/>
          <a:ln w="15875">
            <a:solidFill>
              <a:srgbClr val="A85D6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914400" y="4325112"/>
            <a:ext cx="45720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914400" y="4325112"/>
            <a:ext cx="45720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/topic/chat.{artist}.fan.{fan} → 팬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00400" y="4928616"/>
            <a:ext cx="914" cy="182880"/>
          </a:xfrm>
          <a:prstGeom prst="line">
            <a:avLst/>
          </a:prstGeom>
          <a:noFill/>
          <a:ln w="15875">
            <a:solidFill>
              <a:srgbClr val="A85D6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914400" y="5111496"/>
            <a:ext cx="457200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914400" y="5111496"/>
            <a:ext cx="457200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/topic/chat.{artist}.artistFeed → 아티스트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245352" y="137160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6473952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(WebRTC P2P + STOMP 시그널링)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37960" y="201168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2D3A47"/>
          </a:solidFill>
          <a:ln w="9525">
            <a:solidFill>
              <a:srgbClr val="2D3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653796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257032" y="20116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8257032" y="2011680"/>
            <a:ext cx="1737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LiveStompController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0195560" y="201168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A85D67"/>
          </a:solidFill>
          <a:ln w="9525">
            <a:solidFill>
              <a:srgbClr val="A85D6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10195560" y="2011680"/>
            <a:ext cx="12801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시청자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269480" y="2834640"/>
            <a:ext cx="1856232" cy="914"/>
          </a:xfrm>
          <a:prstGeom prst="line">
            <a:avLst/>
          </a:prstGeom>
          <a:noFill/>
          <a:ln w="15875">
            <a:solidFill>
              <a:srgbClr val="5A677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7269480" y="2606040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/app/live.host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 flipH="1">
            <a:off x="9125712" y="3291840"/>
            <a:ext cx="1709928" cy="914"/>
          </a:xfrm>
          <a:prstGeom prst="line">
            <a:avLst/>
          </a:prstGeom>
          <a:noFill/>
          <a:ln w="15875">
            <a:solidFill>
              <a:srgbClr val="5A677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9125712" y="3063240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/app/live.join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 flipH="1">
            <a:off x="7269480" y="3749040"/>
            <a:ext cx="1856232" cy="914"/>
          </a:xfrm>
          <a:prstGeom prst="line">
            <a:avLst/>
          </a:prstGeom>
          <a:noFill/>
          <a:ln w="15875">
            <a:solidFill>
              <a:srgbClr val="5A677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7269480" y="3520440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/topic/live.{a}.host (join 알림)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7269480" y="4206240"/>
            <a:ext cx="1856232" cy="914"/>
          </a:xfrm>
          <a:prstGeom prst="line">
            <a:avLst/>
          </a:prstGeom>
          <a:noFill/>
          <a:ln w="15875">
            <a:solidFill>
              <a:srgbClr val="5A677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7269480" y="3977640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/app/live.signal (offer)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9125712" y="4663440"/>
            <a:ext cx="1709928" cy="914"/>
          </a:xfrm>
          <a:prstGeom prst="line">
            <a:avLst/>
          </a:prstGeom>
          <a:noFill/>
          <a:ln w="15875">
            <a:solidFill>
              <a:srgbClr val="5A677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9125712" y="4434840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/topic/live.{a}.peer.{v}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7269480" y="5257800"/>
            <a:ext cx="3566160" cy="0"/>
          </a:xfrm>
          <a:prstGeom prst="line">
            <a:avLst/>
          </a:prstGeom>
          <a:noFill/>
          <a:ln w="25400">
            <a:solidFill>
              <a:srgbClr val="A85D67"/>
            </a:solidFill>
            <a:prstDash val="dash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 txBox="1"/>
          <p:nvPr/>
        </p:nvSpPr>
        <p:spPr>
          <a:xfrm>
            <a:off x="6537960" y="53218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answer · ICE 교환 후 영상은 P2P로 직접 전송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6537960" y="5623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호스트가 시청자마다 연결을 맺어 시청자 수에 비례해 업로드 증가 · TURN 서버 없음</a:t>
            </a:r>
            <a:endParaRPr lang="en-US" sz="85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기술 설명 · 이벤트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기반 처리 — 커밋 뒤에 배지·집계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45720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가입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219456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 글 · 댓글 작성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92608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457200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팔로우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365760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457200" y="3657600"/>
            <a:ext cx="2377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멤버십 · 프로젝트 입금 확정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438912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457200" y="4389120"/>
            <a:ext cx="2377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굿즈 구매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383280" y="2377440"/>
            <a:ext cx="2377440" cy="1280160"/>
          </a:xfrm>
          <a:prstGeom prst="roundRect">
            <a:avLst>
              <a:gd name="adj" fmla="val 5714"/>
            </a:avLst>
          </a:prstGeom>
          <a:solidFill>
            <a:srgbClr val="2D3A47"/>
          </a:solidFill>
          <a:ln w="12700">
            <a:solidFill>
              <a:srgbClr val="2D3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3383280" y="2377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ApplicationEvent 발행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BadgeActivityEvent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Hashtag 글 이벤트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834640" y="1737360"/>
            <a:ext cx="548640" cy="1280160"/>
          </a:xfrm>
          <a:prstGeom prst="line">
            <a:avLst/>
          </a:prstGeom>
          <a:noFill/>
          <a:ln w="15875">
            <a:solidFill>
              <a:srgbClr val="D9D3C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2834640" y="2468880"/>
            <a:ext cx="548640" cy="548640"/>
          </a:xfrm>
          <a:prstGeom prst="line">
            <a:avLst/>
          </a:prstGeom>
          <a:noFill/>
          <a:ln w="15875">
            <a:solidFill>
              <a:srgbClr val="D9D3C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 flipV="1">
            <a:off x="2834640" y="3017520"/>
            <a:ext cx="548640" cy="182880"/>
          </a:xfrm>
          <a:prstGeom prst="line">
            <a:avLst/>
          </a:prstGeom>
          <a:noFill/>
          <a:ln w="15875">
            <a:solidFill>
              <a:srgbClr val="D9D3C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 flipV="1">
            <a:off x="2834640" y="3017520"/>
            <a:ext cx="548640" cy="914400"/>
          </a:xfrm>
          <a:prstGeom prst="line">
            <a:avLst/>
          </a:prstGeom>
          <a:noFill/>
          <a:ln w="15875">
            <a:solidFill>
              <a:srgbClr val="D9D3C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 flipV="1">
            <a:off x="2834640" y="3017520"/>
            <a:ext cx="548640" cy="1645920"/>
          </a:xfrm>
          <a:prstGeom prst="line">
            <a:avLst/>
          </a:prstGeom>
          <a:noFill/>
          <a:ln w="15875">
            <a:solidFill>
              <a:srgbClr val="D9D3C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6400800" y="173736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FBEEF1"/>
          </a:solidFill>
          <a:ln w="9525">
            <a:solidFill>
              <a:srgbClr val="F7C8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400800" y="1737360"/>
            <a:ext cx="25603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@TransactionalEventListener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(phase = AFTER_COMMIT)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400800" y="3291840"/>
            <a:ext cx="2560320" cy="822960"/>
          </a:xfrm>
          <a:prstGeom prst="roundRect">
            <a:avLst>
              <a:gd name="adj" fmla="val 6667"/>
            </a:avLst>
          </a:prstGeom>
          <a:solidFill>
            <a:srgbClr val="FFF3D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6400800" y="3291840"/>
            <a:ext cx="25603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BadgePeriodScheduler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04:10 (기간형 배지)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 flipV="1">
            <a:off x="5760720" y="2148840"/>
            <a:ext cx="640080" cy="594360"/>
          </a:xfrm>
          <a:prstGeom prst="line">
            <a:avLst/>
          </a:prstGeom>
          <a:noFill/>
          <a:ln w="15875">
            <a:solidFill>
              <a:srgbClr val="A85D6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9509760" y="1463040"/>
            <a:ext cx="222199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9509760" y="1463040"/>
            <a:ext cx="222199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BadgeAwardService.award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확인 → 지급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9509760" y="2423160"/>
            <a:ext cx="222199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9509760" y="2423160"/>
            <a:ext cx="222199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HashtagEventEntryService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recordFanPost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9509760" y="3383280"/>
            <a:ext cx="222199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9509760" y="3383280"/>
            <a:ext cx="2221992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팬 프로젝트 등록 자격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5 + 스페셜 1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 flipV="1">
            <a:off x="8961120" y="1828800"/>
            <a:ext cx="548640" cy="182880"/>
          </a:xfrm>
          <a:prstGeom prst="line">
            <a:avLst/>
          </a:prstGeom>
          <a:noFill/>
          <a:ln w="15875">
            <a:solidFill>
              <a:srgbClr val="5A677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8961120" y="2286000"/>
            <a:ext cx="548640" cy="502920"/>
          </a:xfrm>
          <a:prstGeom prst="line">
            <a:avLst/>
          </a:prstGeom>
          <a:noFill/>
          <a:ln w="15875">
            <a:solidFill>
              <a:srgbClr val="5A677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 flipV="1">
            <a:off x="8961120" y="1920240"/>
            <a:ext cx="548640" cy="1783080"/>
          </a:xfrm>
          <a:prstGeom prst="line">
            <a:avLst/>
          </a:prstGeom>
          <a:noFill/>
          <a:ln w="15875">
            <a:solidFill>
              <a:srgbClr val="5A677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457200" y="52578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배지 25종 = 일반 · 스페셜 · 기간형(가입 100/200/300일, 커뮤니티 1~3년, 멤버십 2~5년, 데뷔 n주년) · 회수 없음, fan_badge_ownership에 보유 기록</a:t>
            </a:r>
            <a:endParaRPr lang="en-US" sz="10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효과: 핵심 기능 코드에 배지 로직이 섞이지 않고, 새 배지를 추가할 때 리스너만 수정</a:t>
            </a:r>
            <a:endParaRPr lang="en-US" sz="10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기술 설명 · 보안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보안 설계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64008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분기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LoginSuccessHandler가 adminLogin·portalLogin 파라미터와 실제 역할을 대조. 역할 정보를 노출하지 않고 일반 실패처럼 처리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343400" y="137160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452628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보호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18745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10분 5회 실패 시 10분 잠금 · IP 20회 · 동시 로그인 1개 · 1년 미접속 휴면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292608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640080" y="3063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2단계 인증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4290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6자리 · 2분 · BCrypt 해시 저장 · 1회용 소모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43400" y="292608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4526280" y="3063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인증 남용 방지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34290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재발송 60초 · 1일 10회 · IP 20회 · 서비스 전체 400회 · 5회 오입력 폐기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" y="448056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640080" y="4617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민감정보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9834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계좌 AES-GCM 암호화 + HMAC 중복 검사 · 활성화 토큰은 해시로만 저장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343400" y="448056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4526280" y="4617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이미지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526280" y="49834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프로필·배너·로고는 storeImage(): 10MB 상한 · image/* · 매직바이트 검사 · 서버가 확장자 지정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321040" y="1371600"/>
            <a:ext cx="3410712" cy="4480560"/>
          </a:xfrm>
          <a:prstGeom prst="roundRect">
            <a:avLst>
              <a:gd name="adj" fmla="val 2145"/>
            </a:avLst>
          </a:prstGeom>
          <a:solidFill>
            <a:srgbClr val="FBEEF1"/>
          </a:solidFill>
          <a:ln w="9525">
            <a:solidFill>
              <a:srgbClr val="F7C8D3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850392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보안 과제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503920" y="1920240"/>
            <a:ext cx="3063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CSRF 보호 비활성 (SecurityConfig)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SUBSCRIBE 미검사 → 채널 id만 알면 남의 DM 구독 가능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게시글 첨부·미디어·굿즈 이미지는 아직 store() 사용 (확장자 그대로 저장)</a:t>
            </a:r>
            <a:endParaRPr lang="en-US" sz="9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멤버십 가입 POST가 URL 필터로만 차단</a:t>
            </a:r>
            <a:endParaRPr lang="en-US" sz="95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기술 설명 · 다국어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다국어(i18n) — 한국어 · 일본어 · 영어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33832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457200" y="1463040"/>
            <a:ext cx="338328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4630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선택</a:t>
            </a:r>
            <a:endParaRPr lang="en-US" sz="11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🌐 / 설정 / 로그인 화면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858768" y="1965960"/>
            <a:ext cx="420624" cy="914"/>
          </a:xfrm>
          <a:prstGeom prst="line">
            <a:avLst/>
          </a:prstGeom>
          <a:noFill/>
          <a:ln w="15875">
            <a:solidFill>
              <a:srgbClr val="A85D6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97680" y="1463040"/>
            <a:ext cx="3383280" cy="1005840"/>
          </a:xfrm>
          <a:prstGeom prst="roundRect">
            <a:avLst>
              <a:gd name="adj" fmla="val 5455"/>
            </a:avLst>
          </a:prstGeom>
          <a:solidFill>
            <a:srgbClr val="2D3A47"/>
          </a:solidFill>
          <a:ln w="9525">
            <a:solidFill>
              <a:srgbClr val="2D3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4297680" y="1463040"/>
            <a:ext cx="338328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14630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PreferredLocaleResolver</a:t>
            </a:r>
            <a:endParaRPr lang="en-US" sz="11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로케일 + users.preferred_language</a:t>
            </a:r>
            <a:endParaRPr lang="en-US" sz="11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화면은 항상 한국어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99248" y="1965960"/>
            <a:ext cx="420624" cy="914"/>
          </a:xfrm>
          <a:prstGeom prst="line">
            <a:avLst/>
          </a:prstGeom>
          <a:noFill/>
          <a:ln w="15875">
            <a:solidFill>
              <a:srgbClr val="A85D6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8138160" y="1463040"/>
            <a:ext cx="33832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8138160" y="1463040"/>
            <a:ext cx="338328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138160" y="14630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MessageSource</a:t>
            </a:r>
            <a:endParaRPr lang="en-US" sz="11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messages.properties · _ja · _en</a:t>
            </a:r>
            <a:endParaRPr lang="en-US" sz="11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파일 키 세트 동일 (약 2,800줄)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292608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40080" y="3063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Thymeleaf 화면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4290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th:text="#{...}", th:lang 으로 77개 템플릿 적용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297680" y="292608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4480560" y="3063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JS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4480560" y="34290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/api/i18n/shell · /client · /calendar 로 문구 묶음 전달, 실패 시 한국어 폴백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138160" y="292608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8321040" y="3063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예외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8321040" y="34290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LocalizedIllegalArgumentException(키 + 값) → GlobalExceptionHandler가 번역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438912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4008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· STOMP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48920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메일은 수신자 언어, STOMP 경고는 보낸 사람 preferredLanguage 기준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297680" y="438912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448056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Enum 라벨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8920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굿즈 카테고리·프로젝트 상태·은행명 등 getMessageKey()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138160" y="438912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8321040" y="4526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기능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8321040" y="48920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요약·번역 대상 언어 = 사용자 기본 언어</a:t>
            </a:r>
            <a:endParaRPr lang="en-US" sz="95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기술 설명 · 스케줄러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 9개 — 시간이 지나면 바뀌는 상태</a:t>
            </a:r>
            <a:endParaRPr lang="en-US" sz="22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43891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스케줄러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A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ProjectStatusScheduler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팬 프로젝트 APPROVED → FUNDING → FUNDING_CLOSED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A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ProjectPaymentScheduler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주문 입금 동기화 · 60분 넘은 READY 실패 처리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A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MembershipPaymentScheduler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멤버십 주문 입금 동기화 → MembershipService.join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A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ShopPaymentScheduler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굿즈 주문 입금 동기화 → 재고 차감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A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LoginAttemptService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1시간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만료된 로그인 실패 기록 정리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A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DormantAccountScheduler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03:00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1년 미접속 30일 전 안내 메일 → 휴면 전환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A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DeletedMediaFileCleanupScheduler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04:00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삭제된 미디어 파일 디스크 정리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A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BadgePeriodScheduler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04:10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기간형 배지(가입 n일, 멤버십 n년, 데뷔 n주년) 지급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A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SignupEmailVerificationService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매일 04:30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발송 이력 정리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최근 수정 (10/5)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전 수정 사항 6건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3246120" cy="1051560"/>
          </a:xfrm>
          <a:prstGeom prst="roundRect">
            <a:avLst>
              <a:gd name="adj" fmla="val 5217"/>
            </a:avLst>
          </a:prstGeom>
          <a:solidFill>
            <a:srgbClr val="FBFAF7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로고 마크 교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572768"/>
            <a:ext cx="914400" cy="9144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26517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 마크 교체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95351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페이지 헤더의 "W" 마크 → 브랜드 앱 아이콘. CSS(.brand__mark) 한 곳만 바꿔 22개 화면에 적용, 1MB 원본 대신 128px 사본(4.5KB) 사용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270248" y="132588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4453128" y="1508760"/>
            <a:ext cx="3246120" cy="1051560"/>
          </a:xfrm>
          <a:prstGeom prst="roundRect">
            <a:avLst>
              <a:gd name="adj" fmla="val 5217"/>
            </a:avLst>
          </a:prstGeom>
          <a:solidFill>
            <a:srgbClr val="FBFAF7"/>
          </a:solidFill>
          <a:ln w="12700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파비콘 교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1572768"/>
            <a:ext cx="914400" cy="9144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453128" y="26517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파비콘 교체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453128" y="295351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weplanet-favicon-64.png 를 16 · 32 · 48 · 64px 가 든 favicon.ico 로 변환 (경로 그대로)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8083296" y="132588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약관 &quot;← 설정으로&quot; 버튼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1508760"/>
            <a:ext cx="3246120" cy="105156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266176" y="1508760"/>
            <a:ext cx="3246120" cy="1051560"/>
          </a:xfrm>
          <a:prstGeom prst="rect">
            <a:avLst/>
          </a:prstGeom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2"/>
          <p:cNvSpPr txBox="1"/>
          <p:nvPr/>
        </p:nvSpPr>
        <p:spPr>
          <a:xfrm>
            <a:off x="8266176" y="26517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"← 설정으로" 버튼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266176" y="295351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인라인 display:inline-block 이 .btn 의 세로 가운데 정렬을 덮어써 글씨가 위로 붙던 문제 수정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57200" y="384048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아티스트 컬렉션 차단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023360"/>
            <a:ext cx="3246120" cy="105156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40080" y="4023360"/>
            <a:ext cx="3246120" cy="1051560"/>
          </a:xfrm>
          <a:prstGeom prst="rect">
            <a:avLst/>
          </a:prstGeom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6"/>
          <p:cNvSpPr txBox="1"/>
          <p:nvPr/>
        </p:nvSpPr>
        <p:spPr>
          <a:xfrm>
            <a:off x="640080" y="51663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 컬렉션 차단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" y="546811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ARTIST · ARTIST_MEMBER 는 메뉴에서 숨김 + /collection 리다이렉트 + API 403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4270248" y="384048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DM 안 읽은 개수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3128" y="4023360"/>
            <a:ext cx="3246120" cy="105156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4453128" y="4023360"/>
            <a:ext cx="3246120" cy="1051560"/>
          </a:xfrm>
          <a:prstGeom prst="rect">
            <a:avLst/>
          </a:prstGeom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0"/>
          <p:cNvSpPr txBox="1"/>
          <p:nvPr/>
        </p:nvSpPr>
        <p:spPr>
          <a:xfrm>
            <a:off x="4453128" y="51663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 안 읽은 개수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4453128" y="546811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아티스트 메시지가 오면 비행기 버튼에 숫자 배지 (STOMP 실시간 + 읽은 시각 localStorage)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8083296" y="384048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5" descr="금칙어 4,855개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6176" y="4023360"/>
            <a:ext cx="3246120" cy="105156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8266176" y="4023360"/>
            <a:ext cx="3246120" cy="1051560"/>
          </a:xfrm>
          <a:prstGeom prst="rect">
            <a:avLst/>
          </a:prstGeom>
          <a:ln w="9525">
            <a:solidFill>
              <a:srgbClr val="D9D3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4"/>
          <p:cNvSpPr txBox="1"/>
          <p:nvPr/>
        </p:nvSpPr>
        <p:spPr>
          <a:xfrm>
            <a:off x="8266176" y="51663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4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금칙어 4,855개</a:t>
            </a:r>
            <a:endParaRPr lang="en-US" sz="1200" dirty="0"/>
          </a:p>
        </p:txBody>
      </p:sp>
      <p:sp>
        <p:nvSpPr>
          <p:cNvPr id="34" name="Text 25"/>
          <p:cNvSpPr txBox="1"/>
          <p:nvPr/>
        </p:nvSpPr>
        <p:spPr>
          <a:xfrm>
            <a:off x="8266176" y="546811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욕설 데이터셋 6,701개에서 오탐 단어를 걸러 등록, DB 352KB</a:t>
            </a:r>
            <a:endParaRPr lang="en-US" sz="95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테스트 결과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테스트 결과 — 19건</a:t>
            </a:r>
            <a:endParaRPr lang="en-US" sz="22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501092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5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내용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팬 게시글 작성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demo_fan15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에디터 입력 → 등록 → 목록 최상단 노출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댓글 작성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demo_fan15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반영 + DB 저장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요약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demo_fan15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Gemini 요약문 표시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번역 / 다국어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demo_fan15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JA 전환 후 본문 번역, KO·JA·EN 화면 전환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팬 → 아티스트 DM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demo_fan15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남은 횟수 10 → 9, 아티스트 화면 수신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아티스트 DM + AI 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nova 리안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가상 팬 5명 답장 생성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8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DM 안 읽은 개수  NEW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리안 → fan15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배지 3 → 페이지 이동 후 유지 → 방 열면 사라짐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8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DM 금칙어 차단  NEW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demo_fan15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욕설 포함 메시지 전송 시 경고 배너, 전송 안 됨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장바구니 · 주문서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demo_fan15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옵션(M) 담기 → 합계 72,000원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Toss 가상계좌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demo_fan15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결제창 · 은행 선택 (입금 확정 전)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779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 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팬 프로젝트 등록 자격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demo_fan15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배지 부족(일반 3/5) 안내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로그인 · 멤버 선택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nova_official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프로필 선택 → 개인 비밀번호 → 아티스트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8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아티스트 컬렉션 차단  NEW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nova 리안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 숨김, /collection → 홈, API 403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관리자 2단계 인증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admin_super1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인증번호 발송 → 확인 → 대시보드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소속사 권한 승인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admin → agency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대기 화면 → 승인 → 포털 진입, 로그 기록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해시태그 총공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admin + fan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 검증 → 생성 → 해시태그 글 집계 11.1%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8C4A5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로고 · 파비콘 · 버튼  NEW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헤더 아이콘, /favicon.ico(4크기), 설정으로 버튼 가운데 정렬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다크모드 · 모바일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테마 전환, 390px 레이아웃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05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비회원 화면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비회원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홈·로그인·가입·입점 신청·공지·약관·샵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변경점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화이트보드 분석(main 3ed8788) 대비 지금 달라진 점</a:t>
            </a:r>
            <a:endParaRPr lang="en-US" sz="22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47548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5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화이트보드 시점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(main-distribution + 10/5)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관리자 2단계 인증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서비스만 있고 로그인에 미연결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 인증번호 필수 (2분 · 1회용)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계정 자동 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TestAdmin·Agency·Artist Initializer가 운영에서도 계정 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Test* Initializer 제거 (AiFan · MediaGroup만 유지)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보호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LoginAttemptService: 10분 5회 → 10분 잠금, IP 20회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스키마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60개 테이블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56개 (v2 간소화, 이전용 SQL 제공)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포털 진입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ARTIST · AGENCY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AGENCY 전용 + 관리자 권한 승인, 멤버는 커뮤니티 아티스트 화면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다국어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 화면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화면 KO · JA · EN, 관리자 화면은 한국어 고정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데스크톱 중심, "W" 글자 로고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모바일 반응형 + 다크모드, 브랜드 앱 아이콘 로고 · 파비콘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다국어 셸 이후 전송 누락, 알림 없음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전송 복구 + 첫 방문 팬 안내 + 안 읽은 개수 실시간 배지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채팅 금칙어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기능만 있고 등록된 단어 0개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4,855개 등록 (오탐 단어 정제)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배지 · 컬렉션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아티스트도 메뉴 노출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팬 전용 (아티스트·멤버 메뉴 숨김 + 접근 차단)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기타 버그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해시태그 페이지 500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th:utext 수정, base-url 환경변수화, 약관 버튼 정렬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D3A4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테스트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A67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@Test 13개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6370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@Test 44개 (관리자 인증·로그인 분기·DM 등)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457200" y="29260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85D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개선 과제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5486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과제와 해결 방향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40080" y="1426464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C2415A"/>
          </a:solidFill>
          <a:ln w="12700">
            <a:solidFill>
              <a:srgbClr val="C241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640080" y="142646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128016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구독 검사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1280160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SUBSCRIBE 시 채널의 artistId·fanId와 로그인 사용자를 대조하는 인터셉터 추가 (DM·라이브 시그널링)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984248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40080" y="2130552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C2415A"/>
          </a:solidFill>
          <a:ln w="12700">
            <a:solidFill>
              <a:srgbClr val="C241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640080" y="213055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554480" y="198424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파일 검증 통일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206240" y="1984248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게시글 첨부·미디어·굿즈 이미지도 storeImage() 방식(매직바이트·확장자 서버 지정) 적용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688336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40080" y="2834640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40080" y="283464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554480" y="268833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굿즈 재고 선점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206240" y="2688336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입금 대기 중 재고 부족 시 주문이 대기로 남는 문제 → 주문 시 예약 재고 또는 환불 처리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3392424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640080" y="3538728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640080" y="353872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339242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멤버십 · CSRF · 웹훅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206240" y="3392424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joinMembership 메서드 제거, CSRF 토큰 활성화, 멤버십·굿즈 주문도 웹훅으로 즉시 확정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4096512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640080" y="4242816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640080" y="424281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554480" y="409651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금칙어 관리 화면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206240" y="4096512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4,855개를 한 페이지에 모두 그려 HTML 약 5MB → 검색 · 페이지 나누기, "미친 무대" 같은 오탐 단어 정리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4800600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640080" y="4946904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63704A"/>
          </a:solidFill>
          <a:ln w="12700">
            <a:solidFill>
              <a:srgbClr val="6370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640080" y="494690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낮음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554480" y="480060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 읽음 상태 저장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206240" y="4800600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브라우저(localStorage) 기준 → 기기를 바꿔도 이어지게 하려면 읽음 테이블(DB) 추가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7200" y="5504688"/>
            <a:ext cx="1127455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8E4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640080" y="5650992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63704A"/>
          </a:solidFill>
          <a:ln w="12700">
            <a:solidFill>
              <a:srgbClr val="6370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640080" y="565099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낮음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1554480" y="550468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비용 · 품질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4206240" y="5504688"/>
            <a:ext cx="7360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 한도 차감 잠금, Gemini 호출 제한·캐시, 라이브 TURN 서버, 미사용 ShopCheckoutService 정리</a:t>
            </a:r>
            <a:endParaRPr lang="en-US" sz="10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0A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895600" y="2134844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2895600" y="3154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C8D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124200" y="4979749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주소  https://decree-detergent-state.ngrok-free.dev</a:t>
            </a:r>
            <a:endParaRPr lang="en-US" sz="11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C9C3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계정 비밀번호 공통 Test1234 (데모 시드)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PlaNet">
  <a:themeElements>
    <a:clrScheme name="WePlaNet">
      <a:dk1>
        <a:srgbClr val="2D3A47"/>
      </a:dk1>
      <a:lt1>
        <a:srgbClr val="FFFFFF"/>
      </a:lt1>
      <a:dk2>
        <a:srgbClr val="1E252E"/>
      </a:dk2>
      <a:lt2>
        <a:srgbClr val="FBFAF7"/>
      </a:lt2>
      <a:accent1>
        <a:srgbClr val="A85D67"/>
      </a:accent1>
      <a:accent2>
        <a:srgbClr val="8C4A54"/>
      </a:accent2>
      <a:accent3>
        <a:srgbClr val="F7C8D3"/>
      </a:accent3>
      <a:accent4>
        <a:srgbClr val="63704A"/>
      </a:accent4>
      <a:accent5>
        <a:srgbClr val="FFF3DF"/>
      </a:accent5>
      <a:accent6>
        <a:srgbClr val="5A6773"/>
      </a:accent6>
      <a:hlink>
        <a:srgbClr val="A85D67"/>
      </a:hlink>
      <a:folHlink>
        <a:srgbClr val="8C4A54"/>
      </a:folHlink>
    </a:clrScheme>
    <a:fontScheme name="WePlaNet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7949</Words>
  <Application>Microsoft Office PowerPoint</Application>
  <PresentationFormat>와이드스크린</PresentationFormat>
  <Paragraphs>1134</Paragraphs>
  <Slides>60</Slides>
  <Notes>60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63" baseType="lpstr">
      <vt:lpstr>Malgun Gothic</vt:lpstr>
      <vt:lpstr>Arial</vt:lpstr>
      <vt:lpstr>WePlaNet</vt:lpstr>
      <vt:lpstr>PowerPoint 프레젠테이션</vt:lpstr>
      <vt:lpstr>발표 순서</vt:lpstr>
      <vt:lpstr>무엇을 · 왜 만들었나</vt:lpstr>
      <vt:lpstr>기술 스택</vt:lpstr>
      <vt:lpstr>시스템 아키텍처 — 모놀리스 1개</vt:lpstr>
      <vt:lpstr>역할 5가지와 진입점</vt:lpstr>
      <vt:lpstr>데이터 모델 — 8개 도메인, 56개 테이블</vt:lpstr>
      <vt:lpstr>팬 서비스 시연</vt:lpstr>
      <vt:lpstr>메인 홈 — 비회원과 로그인 팬</vt:lpstr>
      <vt:lpstr>회원가입 · 로그인 · 계정 찾기</vt:lpstr>
      <vt:lpstr>공지사항 · 약관 · 비회원 샵</vt:lpstr>
      <vt:lpstr>커뮤니티 검색 · 사이드 메뉴</vt:lpstr>
      <vt:lpstr>커뮤니티 탭 — Highlight · Fan · Artist</vt:lpstr>
      <vt:lpstr>커뮤니티 — Notice · 내 프로필 · 팔로우</vt:lpstr>
      <vt:lpstr>게시글 작성 — 실제 등록 테스트</vt:lpstr>
      <vt:lpstr>게시글 상세 · 댓글 · 신고</vt:lpstr>
      <vt:lpstr>AI 요약 · AI 번역 (Google Gemini)</vt:lpstr>
      <vt:lpstr>미디어 · 멤버십 전용 콘텐츠</vt:lpstr>
      <vt:lpstr>멤버십 — 1년 유료 구독</vt:lpstr>
      <vt:lpstr>DM — 팬이 아티스트에게 보내기</vt:lpstr>
      <vt:lpstr>DM — 아티스트 화면과 AI 가상 팬</vt:lpstr>
      <vt:lpstr>DM — 안 읽은 메시지 개수 실시간 표시</vt:lpstr>
      <vt:lpstr>DM 금칙어 4,855개 적용</vt:lpstr>
      <vt:lpstr>팬 프로젝트 — 생일카페 · 전광판 모금</vt:lpstr>
      <vt:lpstr>굿즈샵 — 상품 · 옵션 · 장바구니</vt:lpstr>
      <vt:lpstr>주문서 → Toss 가상계좌 (테스트 모드)</vt:lpstr>
      <vt:lpstr>나의 컬렉션 — 배지 25종</vt:lpstr>
      <vt:lpstr>해시태그 총공 — 참여율 실시간 집계</vt:lpstr>
      <vt:lpstr>캘린더 · 알림</vt:lpstr>
      <vt:lpstr>회원정보 설정 · 다국어 (KO / JA / EN)</vt:lpstr>
      <vt:lpstr>다크모드 · 모바일 반응형</vt:lpstr>
      <vt:lpstr>아티스트 · 소속사</vt:lpstr>
      <vt:lpstr>입점 신청부터 멤버 로그인까지</vt:lpstr>
      <vt:lpstr>그룹 로그인 → 넷플릭스식 멤버 프로필 선택</vt:lpstr>
      <vt:lpstr>멤버로 로그인한 커뮤니티 — 아티스트 시점</vt:lpstr>
      <vt:lpstr>아티스트 계정은 "나의 컬렉션" 사용 안 함</vt:lpstr>
      <vt:lpstr>소속사 로그인 — 관리자 승인 전과 후</vt:lpstr>
      <vt:lpstr>포털 — 공지 · 스케줄 · 미디어</vt:lpstr>
      <vt:lpstr>포털 — 굿즈 · 방송 · 프로필</vt:lpstr>
      <vt:lpstr>포털 — 프로필 · 멤버 · 신고 / 차단</vt:lpstr>
      <vt:lpstr>관리자 콘솔</vt:lpstr>
      <vt:lpstr>관리자 이메일 2단계 인증</vt:lpstr>
      <vt:lpstr>통합 운영 대시보드</vt:lpstr>
      <vt:lpstr>회원 · 아티스트 · 소속사 관리</vt:lpstr>
      <vt:lpstr>등록 신청 · 팬 프로젝트 · 통합 신고</vt:lpstr>
      <vt:lpstr>배너 · 사이트 공지 · 채팅 금칙어</vt:lpstr>
      <vt:lpstr>해시태그 총공 이벤트 만들기</vt:lpstr>
      <vt:lpstr>관리자 로그 — 모든 행동 기록</vt:lpstr>
      <vt:lpstr>기술 설명</vt:lpstr>
      <vt:lpstr>결제 공통 구조 — Toss 가상계좌</vt:lpstr>
      <vt:lpstr>실시간 통신 — STOMP DM과 WebRTC 라이브</vt:lpstr>
      <vt:lpstr>이벤트 기반 처리 — 커밋 뒤에 배지·집계</vt:lpstr>
      <vt:lpstr>인증 · 보안 설계</vt:lpstr>
      <vt:lpstr>다국어(i18n) — 한국어 · 일본어 · 영어</vt:lpstr>
      <vt:lpstr>스케줄러 9개 — 시간이 지나면 바뀌는 상태</vt:lpstr>
      <vt:lpstr>발표 전 수정 사항 6건</vt:lpstr>
      <vt:lpstr>기능 테스트 결과 — 19건</vt:lpstr>
      <vt:lpstr>화이트보드 분석(main 3ed8788) 대비 지금 달라진 점</vt:lpstr>
      <vt:lpstr>남은 과제와 해결 방향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WePlaNet 시연 발표</dc:title>
  <dc:subject>PptxGenJS Presentation</dc:subject>
  <dc:creator>WePlaNet Team</dc:creator>
  <cp:lastModifiedBy>정휘원</cp:lastModifiedBy>
  <cp:revision>2</cp:revision>
  <dcterms:created xsi:type="dcterms:W3CDTF">2026-10-04T17:27:01Z</dcterms:created>
  <dcterms:modified xsi:type="dcterms:W3CDTF">2026-10-04T17:33:13Z</dcterms:modified>
</cp:coreProperties>
</file>